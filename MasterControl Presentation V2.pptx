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9c82da4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49c82da4c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9c82da4c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49c82da4c_2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49c82da4c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49c82da4c_2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49c82da4c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49c82da4c_2_1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49c82da4c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49c82da4c_2_1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49c82da4c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49c82da4c_2_1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49c82da4c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49c82da4c_2_2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49c82da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49c82da4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49c82da4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49c82da4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49c82da4c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49c82da4c_2_2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49c82da4c_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d49c82da4c_2_2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49c82da4c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d49c82da4c_2_2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49c82da4c_2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49c82da4c_2_2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49c82da4c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d49c82da4c_2_3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49c82da4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d49c82da4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49c82da4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d49c82da4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49c82da4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49c82da4c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49c82da4c_2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49c82da4c_2_3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49c82da4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49c82da4c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49c82da4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49c82da4c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49c82da4c_2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d49c82da4c_2_3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49c82da4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d49c82da4c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49c82da4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d49c82da4c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49c82da4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d49c82da4c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49c82da4c_2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d49c82da4c_2_3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49c82da4c_2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d49c82da4c_2_3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257175" y="798909"/>
            <a:ext cx="2914650" cy="551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14350" y="1457325"/>
            <a:ext cx="24003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lv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1450" y="600075"/>
            <a:ext cx="3086100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270867" y="1652588"/>
            <a:ext cx="2914650" cy="510778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70867" y="1090017"/>
            <a:ext cx="2914650" cy="562570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600"/>
              <a:buNone/>
              <a:defRPr sz="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71450" y="600075"/>
            <a:ext cx="1514475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2pPr>
            <a:lvl3pPr indent="-2794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 sz="700"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1743075" y="600075"/>
            <a:ext cx="1514475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2pPr>
            <a:lvl3pPr indent="-2794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 sz="700"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171450" y="575667"/>
            <a:ext cx="1515070" cy="239911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171450" y="815578"/>
            <a:ext cx="1515070" cy="14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667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600"/>
            </a:lvl4pPr>
            <a:lvl5pPr indent="-2667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600"/>
            </a:lvl5pPr>
            <a:lvl6pPr indent="-2667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6pPr>
            <a:lvl7pPr indent="-2667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7pPr>
            <a:lvl8pPr indent="-2667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8pPr>
            <a:lvl9pPr indent="-2667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1741884" y="575667"/>
            <a:ext cx="1515666" cy="239911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1741884" y="815578"/>
            <a:ext cx="1515666" cy="14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667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600"/>
            </a:lvl4pPr>
            <a:lvl5pPr indent="-2667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600"/>
            </a:lvl5pPr>
            <a:lvl6pPr indent="-2667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6pPr>
            <a:lvl7pPr indent="-2667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7pPr>
            <a:lvl8pPr indent="-2667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8pPr>
            <a:lvl9pPr indent="-2667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171450" y="102394"/>
            <a:ext cx="1128117" cy="435769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340644" y="102394"/>
            <a:ext cx="1916906" cy="219491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171450" y="538163"/>
            <a:ext cx="1128117" cy="1759149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72108" y="1800225"/>
            <a:ext cx="2057400" cy="212527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672108" y="229791"/>
            <a:ext cx="2057400" cy="154305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72108" y="2012752"/>
            <a:ext cx="2057400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865882" y="-94357"/>
            <a:ext cx="1697236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1774627" y="814388"/>
            <a:ext cx="2194322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03002" y="71438"/>
            <a:ext cx="2194322" cy="22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71450" y="600075"/>
            <a:ext cx="3086100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2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11" Type="http://schemas.openxmlformats.org/officeDocument/2006/relationships/image" Target="../media/image27.png"/><Relationship Id="rId10" Type="http://schemas.openxmlformats.org/officeDocument/2006/relationships/image" Target="../media/image18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10" Type="http://schemas.openxmlformats.org/officeDocument/2006/relationships/image" Target="../media/image28.png"/><Relationship Id="rId9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Relationship Id="rId11" Type="http://schemas.openxmlformats.org/officeDocument/2006/relationships/image" Target="../media/image38.png"/><Relationship Id="rId10" Type="http://schemas.openxmlformats.org/officeDocument/2006/relationships/image" Target="../media/image43.png"/><Relationship Id="rId12" Type="http://schemas.openxmlformats.org/officeDocument/2006/relationships/image" Target="../media/image42.png"/><Relationship Id="rId9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39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6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10" Type="http://schemas.openxmlformats.org/officeDocument/2006/relationships/image" Target="../media/image48.png"/><Relationship Id="rId9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40.png"/><Relationship Id="rId7" Type="http://schemas.openxmlformats.org/officeDocument/2006/relationships/image" Target="../media/image47.png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Relationship Id="rId11" Type="http://schemas.openxmlformats.org/officeDocument/2006/relationships/image" Target="../media/image57.png"/><Relationship Id="rId10" Type="http://schemas.openxmlformats.org/officeDocument/2006/relationships/image" Target="../media/image55.png"/><Relationship Id="rId12" Type="http://schemas.openxmlformats.org/officeDocument/2006/relationships/image" Target="../media/image59.png"/><Relationship Id="rId9" Type="http://schemas.openxmlformats.org/officeDocument/2006/relationships/image" Target="../media/image29.png"/><Relationship Id="rId5" Type="http://schemas.openxmlformats.org/officeDocument/2006/relationships/image" Target="../media/image65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11" Type="http://schemas.openxmlformats.org/officeDocument/2006/relationships/image" Target="../media/image68.png"/><Relationship Id="rId10" Type="http://schemas.openxmlformats.org/officeDocument/2006/relationships/image" Target="../media/image60.png"/><Relationship Id="rId12" Type="http://schemas.openxmlformats.org/officeDocument/2006/relationships/image" Target="../media/image70.png"/><Relationship Id="rId9" Type="http://schemas.openxmlformats.org/officeDocument/2006/relationships/image" Target="../media/image69.png"/><Relationship Id="rId5" Type="http://schemas.openxmlformats.org/officeDocument/2006/relationships/image" Target="../media/image54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5" Type="http://schemas.openxmlformats.org/officeDocument/2006/relationships/image" Target="../media/image8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5" Type="http://schemas.openxmlformats.org/officeDocument/2006/relationships/image" Target="../media/image8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5" Type="http://schemas.openxmlformats.org/officeDocument/2006/relationships/image" Target="../media/image8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10" Type="http://schemas.openxmlformats.org/officeDocument/2006/relationships/image" Target="../media/image78.png"/><Relationship Id="rId9" Type="http://schemas.openxmlformats.org/officeDocument/2006/relationships/image" Target="../media/image80.png"/><Relationship Id="rId5" Type="http://schemas.openxmlformats.org/officeDocument/2006/relationships/image" Target="../media/image73.png"/><Relationship Id="rId6" Type="http://schemas.openxmlformats.org/officeDocument/2006/relationships/image" Target="../media/image76.png"/><Relationship Id="rId7" Type="http://schemas.openxmlformats.org/officeDocument/2006/relationships/image" Target="../media/image72.png"/><Relationship Id="rId8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5" Type="http://schemas.openxmlformats.org/officeDocument/2006/relationships/image" Target="../media/image8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5" Type="http://schemas.openxmlformats.org/officeDocument/2006/relationships/image" Target="../media/image8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Relationship Id="rId5" Type="http://schemas.openxmlformats.org/officeDocument/2006/relationships/image" Target="../media/image8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79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244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4969" y="-661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 rotWithShape="1">
          <a:blip r:embed="rId4">
            <a:alphaModFix amt="64000"/>
          </a:blip>
          <a:srcRect b="0" l="0" r="0" t="0"/>
          <a:stretch/>
        </p:blipFill>
        <p:spPr>
          <a:xfrm rot="-8280000">
            <a:off x="8434388" y="1319213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 rotWithShape="1">
          <a:blip r:embed="rId4">
            <a:alphaModFix amt="64000"/>
          </a:blip>
          <a:srcRect b="0" l="0" r="0" t="0"/>
          <a:stretch/>
        </p:blipFill>
        <p:spPr>
          <a:xfrm rot="-8280000">
            <a:off x="8186738" y="1100138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 amt="64000"/>
          </a:blip>
          <a:srcRect b="0" l="0" r="0" t="0"/>
          <a:stretch/>
        </p:blipFill>
        <p:spPr>
          <a:xfrm rot="7920000">
            <a:off x="8420100" y="1085850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 rotWithShape="1">
          <a:blip r:embed="rId4">
            <a:alphaModFix amt="64000"/>
          </a:blip>
          <a:srcRect b="0" l="0" r="0" t="0"/>
          <a:stretch/>
        </p:blipFill>
        <p:spPr>
          <a:xfrm rot="7920000">
            <a:off x="8201025" y="1333500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10800000">
            <a:off x="8467725" y="2590800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10800000">
            <a:off x="8139113" y="2595563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5400000">
            <a:off x="8301038" y="2428875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5400000">
            <a:off x="8301038" y="2757488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-8100000">
            <a:off x="681037" y="3624263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-8100000">
            <a:off x="447675" y="3390900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8100000">
            <a:off x="681037" y="3390900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 rotWithShape="1">
          <a:blip r:embed="rId4">
            <a:alphaModFix amt="44000"/>
          </a:blip>
          <a:srcRect b="0" l="0" r="0" t="0"/>
          <a:stretch/>
        </p:blipFill>
        <p:spPr>
          <a:xfrm rot="8100000">
            <a:off x="447675" y="3624263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-8100000">
            <a:off x="8420100" y="4033838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-8100000">
            <a:off x="8186738" y="3800475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8100000">
            <a:off x="8420100" y="3800475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8100000">
            <a:off x="8186738" y="4033838"/>
            <a:ext cx="276225" cy="1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10800000">
            <a:off x="728663" y="4829175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10800000">
            <a:off x="400050" y="4833938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5400000">
            <a:off x="566738" y="4667250"/>
            <a:ext cx="276225" cy="1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 rotWithShape="1">
          <a:blip r:embed="rId4">
            <a:alphaModFix amt="12000"/>
          </a:blip>
          <a:srcRect b="0" l="0" r="0" t="0"/>
          <a:stretch/>
        </p:blipFill>
        <p:spPr>
          <a:xfrm rot="5400000">
            <a:off x="566738" y="4995863"/>
            <a:ext cx="276225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1052720" y="824787"/>
            <a:ext cx="7391400" cy="14239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Master Control Lead Scoring and Conversion Optimization</a:t>
            </a:r>
            <a:endParaRPr sz="500"/>
          </a:p>
        </p:txBody>
      </p:sp>
      <p:sp>
        <p:nvSpPr>
          <p:cNvPr id="151" name="Google Shape;151;p25"/>
          <p:cNvSpPr txBox="1"/>
          <p:nvPr/>
        </p:nvSpPr>
        <p:spPr>
          <a:xfrm>
            <a:off x="1244876" y="2463615"/>
            <a:ext cx="73009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Predicting high-value leads to boost sales efficiency</a:t>
            </a:r>
            <a:endParaRPr sz="500"/>
          </a:p>
        </p:txBody>
      </p:sp>
      <p:pic>
        <p:nvPicPr>
          <p:cNvPr id="152" name="Google Shape;15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140" y="3086414"/>
            <a:ext cx="2283714" cy="1632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logo&#10;&#10;AI-generated content may be incorrect." id="153" name="Google Shape;153;p25"/>
          <p:cNvPicPr preferRelativeResize="0"/>
          <p:nvPr/>
        </p:nvPicPr>
        <p:blipFill rotWithShape="1">
          <a:blip r:embed="rId6">
            <a:alphaModFix/>
          </a:blip>
          <a:srcRect b="13031" l="5534" r="25691" t="11071"/>
          <a:stretch/>
        </p:blipFill>
        <p:spPr>
          <a:xfrm>
            <a:off x="3141458" y="3490022"/>
            <a:ext cx="2871022" cy="77776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7131741" y="3643061"/>
            <a:ext cx="2671969" cy="957954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By:</a:t>
            </a:r>
            <a:br>
              <a:rPr b="1" i="1" lang="en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	Astha K C</a:t>
            </a:r>
            <a:endParaRPr sz="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	Max Ridgeway</a:t>
            </a:r>
            <a:endParaRPr sz="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	Thomas Beck </a:t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5">
            <a:alphaModFix amt="7000"/>
          </a:blip>
          <a:srcRect b="0" l="0" r="0" t="0"/>
          <a:stretch/>
        </p:blipFill>
        <p:spPr>
          <a:xfrm>
            <a:off x="3124200" y="952500"/>
            <a:ext cx="1595438" cy="154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 rotWithShape="1">
          <a:blip r:embed="rId6">
            <a:alphaModFix amt="7000"/>
          </a:blip>
          <a:srcRect b="0" l="0" r="0" t="0"/>
          <a:stretch/>
        </p:blipFill>
        <p:spPr>
          <a:xfrm>
            <a:off x="4857750" y="952500"/>
            <a:ext cx="1595438" cy="154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 rotWithShape="1">
          <a:blip r:embed="rId7">
            <a:alphaModFix amt="7000"/>
          </a:blip>
          <a:srcRect b="0" l="0" r="0" t="0"/>
          <a:stretch/>
        </p:blipFill>
        <p:spPr>
          <a:xfrm>
            <a:off x="6591300" y="952500"/>
            <a:ext cx="1595438" cy="154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 rotWithShape="1">
          <a:blip r:embed="rId8">
            <a:alphaModFix amt="7000"/>
          </a:blip>
          <a:srcRect b="0" l="0" r="0" t="0"/>
          <a:stretch/>
        </p:blipFill>
        <p:spPr>
          <a:xfrm>
            <a:off x="3124200" y="2628900"/>
            <a:ext cx="1595438" cy="154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 rotWithShape="1">
          <a:blip r:embed="rId9">
            <a:alphaModFix amt="7000"/>
          </a:blip>
          <a:srcRect b="0" l="0" r="0" t="0"/>
          <a:stretch/>
        </p:blipFill>
        <p:spPr>
          <a:xfrm>
            <a:off x="4857750" y="2628900"/>
            <a:ext cx="1595438" cy="154781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947738" y="957263"/>
            <a:ext cx="2271713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500"/>
          </a:p>
        </p:txBody>
      </p:sp>
      <p:sp>
        <p:nvSpPr>
          <p:cNvPr id="167" name="Google Shape;167;p26"/>
          <p:cNvSpPr txBox="1"/>
          <p:nvPr/>
        </p:nvSpPr>
        <p:spPr>
          <a:xfrm>
            <a:off x="3257550" y="1038225"/>
            <a:ext cx="7715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500"/>
          </a:p>
        </p:txBody>
      </p:sp>
      <p:sp>
        <p:nvSpPr>
          <p:cNvPr id="168" name="Google Shape;168;p26"/>
          <p:cNvSpPr txBox="1"/>
          <p:nvPr/>
        </p:nvSpPr>
        <p:spPr>
          <a:xfrm>
            <a:off x="4991100" y="1038225"/>
            <a:ext cx="7715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500"/>
          </a:p>
        </p:txBody>
      </p:sp>
      <p:sp>
        <p:nvSpPr>
          <p:cNvPr id="169" name="Google Shape;169;p26"/>
          <p:cNvSpPr txBox="1"/>
          <p:nvPr/>
        </p:nvSpPr>
        <p:spPr>
          <a:xfrm>
            <a:off x="6724650" y="1038225"/>
            <a:ext cx="7715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500"/>
          </a:p>
        </p:txBody>
      </p:sp>
      <p:sp>
        <p:nvSpPr>
          <p:cNvPr id="170" name="Google Shape;170;p26"/>
          <p:cNvSpPr txBox="1"/>
          <p:nvPr/>
        </p:nvSpPr>
        <p:spPr>
          <a:xfrm>
            <a:off x="3257550" y="2709863"/>
            <a:ext cx="7715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500"/>
          </a:p>
        </p:txBody>
      </p:sp>
      <p:sp>
        <p:nvSpPr>
          <p:cNvPr id="171" name="Google Shape;171;p26"/>
          <p:cNvSpPr txBox="1"/>
          <p:nvPr/>
        </p:nvSpPr>
        <p:spPr>
          <a:xfrm>
            <a:off x="4991100" y="2709863"/>
            <a:ext cx="7715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500"/>
          </a:p>
        </p:txBody>
      </p:sp>
      <p:sp>
        <p:nvSpPr>
          <p:cNvPr id="172" name="Google Shape;172;p26"/>
          <p:cNvSpPr txBox="1"/>
          <p:nvPr/>
        </p:nvSpPr>
        <p:spPr>
          <a:xfrm>
            <a:off x="3224213" y="1681163"/>
            <a:ext cx="146208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Problem and Opportunity</a:t>
            </a:r>
            <a:endParaRPr sz="500"/>
          </a:p>
        </p:txBody>
      </p:sp>
      <p:sp>
        <p:nvSpPr>
          <p:cNvPr id="173" name="Google Shape;173;p26"/>
          <p:cNvSpPr txBox="1"/>
          <p:nvPr/>
        </p:nvSpPr>
        <p:spPr>
          <a:xfrm>
            <a:off x="4991100" y="1681163"/>
            <a:ext cx="1395413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Foundation and Challenges</a:t>
            </a:r>
            <a:endParaRPr sz="500"/>
          </a:p>
        </p:txBody>
      </p:sp>
      <p:sp>
        <p:nvSpPr>
          <p:cNvPr id="174" name="Google Shape;174;p26"/>
          <p:cNvSpPr txBox="1"/>
          <p:nvPr/>
        </p:nvSpPr>
        <p:spPr>
          <a:xfrm>
            <a:off x="6724650" y="1681163"/>
            <a:ext cx="13954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500"/>
          </a:p>
        </p:txBody>
      </p:sp>
      <p:sp>
        <p:nvSpPr>
          <p:cNvPr id="175" name="Google Shape;175;p26"/>
          <p:cNvSpPr txBox="1"/>
          <p:nvPr/>
        </p:nvSpPr>
        <p:spPr>
          <a:xfrm>
            <a:off x="3257550" y="3357563"/>
            <a:ext cx="1395413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Modeling and Evaluation</a:t>
            </a:r>
            <a:endParaRPr sz="500"/>
          </a:p>
        </p:txBody>
      </p:sp>
      <p:sp>
        <p:nvSpPr>
          <p:cNvPr id="176" name="Google Shape;176;p26"/>
          <p:cNvSpPr txBox="1"/>
          <p:nvPr/>
        </p:nvSpPr>
        <p:spPr>
          <a:xfrm>
            <a:off x="4991100" y="3357563"/>
            <a:ext cx="13954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500"/>
          </a:p>
        </p:txBody>
      </p:sp>
      <p:sp>
        <p:nvSpPr>
          <p:cNvPr id="177" name="Google Shape;177;p26"/>
          <p:cNvSpPr txBox="1"/>
          <p:nvPr/>
        </p:nvSpPr>
        <p:spPr>
          <a:xfrm>
            <a:off x="962025" y="3362325"/>
            <a:ext cx="2081213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Strategic roadmap for transforming CRM data into actionable sales intelligence</a:t>
            </a:r>
            <a:endParaRPr sz="500"/>
          </a:p>
        </p:txBody>
      </p:sp>
      <p:sp>
        <p:nvSpPr>
          <p:cNvPr id="178" name="Google Shape;178;p26"/>
          <p:cNvSpPr txBox="1"/>
          <p:nvPr/>
        </p:nvSpPr>
        <p:spPr>
          <a:xfrm>
            <a:off x="3257550" y="2205038"/>
            <a:ext cx="1490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 gap &amp; sales issues</a:t>
            </a:r>
            <a:endParaRPr sz="500"/>
          </a:p>
        </p:txBody>
      </p:sp>
      <p:sp>
        <p:nvSpPr>
          <p:cNvPr id="179" name="Google Shape;179;p26"/>
          <p:cNvSpPr txBox="1"/>
          <p:nvPr/>
        </p:nvSpPr>
        <p:spPr>
          <a:xfrm>
            <a:off x="4991100" y="2205038"/>
            <a:ext cx="1490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traits &amp; issues</a:t>
            </a:r>
            <a:endParaRPr sz="500"/>
          </a:p>
        </p:txBody>
      </p:sp>
      <p:sp>
        <p:nvSpPr>
          <p:cNvPr id="180" name="Google Shape;180;p26"/>
          <p:cNvSpPr txBox="1"/>
          <p:nvPr/>
        </p:nvSpPr>
        <p:spPr>
          <a:xfrm>
            <a:off x="6724650" y="2205038"/>
            <a:ext cx="1490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signals &amp; findings</a:t>
            </a:r>
            <a:endParaRPr sz="500"/>
          </a:p>
        </p:txBody>
      </p:sp>
      <p:sp>
        <p:nvSpPr>
          <p:cNvPr id="181" name="Google Shape;181;p26"/>
          <p:cNvSpPr txBox="1"/>
          <p:nvPr/>
        </p:nvSpPr>
        <p:spPr>
          <a:xfrm>
            <a:off x="3257550" y="3876675"/>
            <a:ext cx="1490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choice &amp; explain</a:t>
            </a:r>
            <a:endParaRPr sz="500"/>
          </a:p>
        </p:txBody>
      </p:sp>
      <p:sp>
        <p:nvSpPr>
          <p:cNvPr id="182" name="Google Shape;182;p26"/>
          <p:cNvSpPr txBox="1"/>
          <p:nvPr/>
        </p:nvSpPr>
        <p:spPr>
          <a:xfrm>
            <a:off x="4991100" y="3876675"/>
            <a:ext cx="1490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ROI &amp; action plan</a:t>
            </a:r>
            <a:endParaRPr sz="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800" y="1876425"/>
            <a:ext cx="1690688" cy="16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1119188" y="2095500"/>
            <a:ext cx="1252538" cy="1252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6777038" y="2095500"/>
            <a:ext cx="1252538" cy="1252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 rotWithShape="1">
          <a:blip r:embed="rId8">
            <a:alphaModFix amt="25000"/>
          </a:blip>
          <a:srcRect b="0" l="0" r="0" t="0"/>
          <a:stretch/>
        </p:blipFill>
        <p:spPr>
          <a:xfrm>
            <a:off x="2652713" y="2586038"/>
            <a:ext cx="7429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 rotWithShape="1">
          <a:blip r:embed="rId8">
            <a:alphaModFix amt="25000"/>
          </a:blip>
          <a:srcRect b="0" l="0" r="0" t="0"/>
          <a:stretch/>
        </p:blipFill>
        <p:spPr>
          <a:xfrm>
            <a:off x="5748338" y="2586038"/>
            <a:ext cx="742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Portfolio Performance Gap</a:t>
            </a:r>
            <a:endParaRPr sz="500"/>
          </a:p>
        </p:txBody>
      </p:sp>
      <p:sp>
        <p:nvSpPr>
          <p:cNvPr id="195" name="Google Shape;195;p27"/>
          <p:cNvSpPr txBox="1"/>
          <p:nvPr/>
        </p:nvSpPr>
        <p:spPr>
          <a:xfrm>
            <a:off x="3624263" y="2424113"/>
            <a:ext cx="190976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7% gap</a:t>
            </a:r>
            <a:endParaRPr sz="500"/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 loss</a:t>
            </a:r>
            <a:endParaRPr sz="500"/>
          </a:p>
        </p:txBody>
      </p:sp>
      <p:sp>
        <p:nvSpPr>
          <p:cNvPr id="196" name="Google Shape;196;p27"/>
          <p:cNvSpPr txBox="1"/>
          <p:nvPr/>
        </p:nvSpPr>
        <p:spPr>
          <a:xfrm>
            <a:off x="1104900" y="2519363"/>
            <a:ext cx="1276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Mx (Manufacturing)</a:t>
            </a:r>
            <a:endParaRPr sz="500"/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12.7% conversion</a:t>
            </a:r>
            <a:endParaRPr sz="500"/>
          </a:p>
        </p:txBody>
      </p:sp>
      <p:sp>
        <p:nvSpPr>
          <p:cNvPr id="197" name="Google Shape;197;p27"/>
          <p:cNvSpPr txBox="1"/>
          <p:nvPr/>
        </p:nvSpPr>
        <p:spPr>
          <a:xfrm>
            <a:off x="6753225" y="2519363"/>
            <a:ext cx="13049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Qx (Quality)</a:t>
            </a:r>
            <a:endParaRPr sz="500"/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19.7% conversion</a:t>
            </a:r>
            <a:endParaRPr sz="500"/>
          </a:p>
        </p:txBody>
      </p:sp>
      <p:sp>
        <p:nvSpPr>
          <p:cNvPr id="198" name="Google Shape;198;p27"/>
          <p:cNvSpPr txBox="1"/>
          <p:nvPr/>
        </p:nvSpPr>
        <p:spPr>
          <a:xfrm>
            <a:off x="976313" y="3800475"/>
            <a:ext cx="7191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7-percentage-point conversion gap between Mx and Qx products represents a significant untapped revenue opportunity, signaling the need for targeted intervention in Mx lead prioritization strategy.</a:t>
            </a:r>
            <a:endParaRPr sz="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 rot="-5400000">
            <a:off x="1757363" y="909638"/>
            <a:ext cx="5524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 rot="5400000">
            <a:off x="5376863" y="-542925"/>
            <a:ext cx="55245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 rot="-5400000">
            <a:off x="1757363" y="1543050"/>
            <a:ext cx="5524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 rot="5400000">
            <a:off x="5376863" y="85725"/>
            <a:ext cx="55245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/>
          <p:cNvPicPr preferRelativeResize="0"/>
          <p:nvPr/>
        </p:nvPicPr>
        <p:blipFill rotWithShape="1">
          <a:blip r:embed="rId9">
            <a:alphaModFix amt="60000"/>
          </a:blip>
          <a:srcRect b="0" l="0" r="0" t="0"/>
          <a:stretch/>
        </p:blipFill>
        <p:spPr>
          <a:xfrm rot="-5400000">
            <a:off x="1757363" y="2176463"/>
            <a:ext cx="5524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 rotWithShape="1">
          <a:blip r:embed="rId10">
            <a:alphaModFix amt="10000"/>
          </a:blip>
          <a:srcRect b="0" l="0" r="0" t="0"/>
          <a:stretch/>
        </p:blipFill>
        <p:spPr>
          <a:xfrm rot="5400000">
            <a:off x="5376863" y="719138"/>
            <a:ext cx="55245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 rot="-5400000">
            <a:off x="1757363" y="2809875"/>
            <a:ext cx="5524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8"/>
          <p:cNvPicPr preferRelativeResize="0"/>
          <p:nvPr/>
        </p:nvPicPr>
        <p:blipFill rotWithShape="1">
          <a:blip r:embed="rId11">
            <a:alphaModFix amt="10000"/>
          </a:blip>
          <a:srcRect b="0" l="0" r="0" t="0"/>
          <a:stretch/>
        </p:blipFill>
        <p:spPr>
          <a:xfrm rot="5400000">
            <a:off x="5376863" y="1352550"/>
            <a:ext cx="552450" cy="507206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efficiency impact</a:t>
            </a:r>
            <a:endParaRPr sz="500"/>
          </a:p>
        </p:txBody>
      </p:sp>
      <p:sp>
        <p:nvSpPr>
          <p:cNvPr id="214" name="Google Shape;214;p28"/>
          <p:cNvSpPr txBox="1"/>
          <p:nvPr/>
        </p:nvSpPr>
        <p:spPr>
          <a:xfrm>
            <a:off x="938213" y="2505075"/>
            <a:ext cx="22002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Reality</a:t>
            </a:r>
            <a:endParaRPr sz="500"/>
          </a:p>
        </p:txBody>
      </p:sp>
      <p:sp>
        <p:nvSpPr>
          <p:cNvPr id="215" name="Google Shape;215;p28"/>
          <p:cNvSpPr txBox="1"/>
          <p:nvPr/>
        </p:nvSpPr>
        <p:spPr>
          <a:xfrm>
            <a:off x="938213" y="3138488"/>
            <a:ext cx="22002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Impact</a:t>
            </a:r>
            <a:endParaRPr sz="500"/>
          </a:p>
        </p:txBody>
      </p:sp>
      <p:sp>
        <p:nvSpPr>
          <p:cNvPr id="216" name="Google Shape;216;p28"/>
          <p:cNvSpPr txBox="1"/>
          <p:nvPr/>
        </p:nvSpPr>
        <p:spPr>
          <a:xfrm>
            <a:off x="938213" y="3771900"/>
            <a:ext cx="22002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Need</a:t>
            </a:r>
            <a:endParaRPr sz="500"/>
          </a:p>
        </p:txBody>
      </p:sp>
      <p:sp>
        <p:nvSpPr>
          <p:cNvPr id="217" name="Google Shape;217;p28"/>
          <p:cNvSpPr txBox="1"/>
          <p:nvPr/>
        </p:nvSpPr>
        <p:spPr>
          <a:xfrm>
            <a:off x="938213" y="1876425"/>
            <a:ext cx="219551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sz="500"/>
          </a:p>
        </p:txBody>
      </p:sp>
      <p:sp>
        <p:nvSpPr>
          <p:cNvPr id="218" name="Google Shape;218;p28"/>
          <p:cNvSpPr txBox="1"/>
          <p:nvPr/>
        </p:nvSpPr>
        <p:spPr>
          <a:xfrm>
            <a:off x="3305175" y="1814513"/>
            <a:ext cx="49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SDRs operate with limited time and lack a data-driven system to prioritize which leads to contact first, resulting in inefficient resource allocation.</a:t>
            </a:r>
            <a:endParaRPr sz="500"/>
          </a:p>
        </p:txBody>
      </p:sp>
      <p:sp>
        <p:nvSpPr>
          <p:cNvPr id="219" name="Google Shape;219;p28"/>
          <p:cNvSpPr txBox="1"/>
          <p:nvPr/>
        </p:nvSpPr>
        <p:spPr>
          <a:xfrm>
            <a:off x="3305175" y="2447925"/>
            <a:ext cx="49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sales call costs $50 in SDR time and resources, while each successful conversion generates $6,000 in value.</a:t>
            </a:r>
            <a:endParaRPr sz="500"/>
          </a:p>
        </p:txBody>
      </p:sp>
      <p:sp>
        <p:nvSpPr>
          <p:cNvPr id="220" name="Google Shape;220;p28"/>
          <p:cNvSpPr txBox="1"/>
          <p:nvPr/>
        </p:nvSpPr>
        <p:spPr>
          <a:xfrm>
            <a:off x="3305175" y="3081338"/>
            <a:ext cx="49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7% conversion gap between Mx and Qx translates directly to substantial lost revenue and missed growth opportunities.</a:t>
            </a:r>
            <a:endParaRPr sz="500"/>
          </a:p>
        </p:txBody>
      </p:sp>
      <p:sp>
        <p:nvSpPr>
          <p:cNvPr id="221" name="Google Shape;221;p28"/>
          <p:cNvSpPr txBox="1"/>
          <p:nvPr/>
        </p:nvSpPr>
        <p:spPr>
          <a:xfrm>
            <a:off x="3305175" y="3714750"/>
            <a:ext cx="49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lead prioritization is essential to maximize ROI by directing SDR efforts toward highest-probability conversion opportunities.</a:t>
            </a:r>
            <a:endParaRPr sz="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 rot="-5400000">
            <a:off x="1728788" y="2805113"/>
            <a:ext cx="614363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 rot="5400000">
            <a:off x="5348288" y="1347788"/>
            <a:ext cx="614363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 rot="-5400000">
            <a:off x="1728788" y="1076325"/>
            <a:ext cx="614363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 rot="5400000">
            <a:off x="5348288" y="-381000"/>
            <a:ext cx="614363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/>
          <p:cNvPicPr preferRelativeResize="0"/>
          <p:nvPr/>
        </p:nvPicPr>
        <p:blipFill rotWithShape="1">
          <a:blip r:embed="rId9">
            <a:alphaModFix amt="60000"/>
          </a:blip>
          <a:srcRect b="0" l="0" r="0" t="0"/>
          <a:stretch/>
        </p:blipFill>
        <p:spPr>
          <a:xfrm rot="-5400000">
            <a:off x="1728788" y="1938338"/>
            <a:ext cx="614363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 rotWithShape="1">
          <a:blip r:embed="rId10">
            <a:alphaModFix amt="10000"/>
          </a:blip>
          <a:srcRect b="0" l="0" r="0" t="0"/>
          <a:stretch/>
        </p:blipFill>
        <p:spPr>
          <a:xfrm rot="5400000">
            <a:off x="5348288" y="481013"/>
            <a:ext cx="614363" cy="507206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sz="500"/>
          </a:p>
        </p:txBody>
      </p:sp>
      <p:sp>
        <p:nvSpPr>
          <p:cNvPr id="235" name="Google Shape;235;p29"/>
          <p:cNvSpPr txBox="1"/>
          <p:nvPr/>
        </p:nvSpPr>
        <p:spPr>
          <a:xfrm>
            <a:off x="938213" y="2028825"/>
            <a:ext cx="219551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Model</a:t>
            </a:r>
            <a:endParaRPr sz="500"/>
          </a:p>
        </p:txBody>
      </p:sp>
      <p:sp>
        <p:nvSpPr>
          <p:cNvPr id="236" name="Google Shape;236;p29"/>
          <p:cNvSpPr txBox="1"/>
          <p:nvPr/>
        </p:nvSpPr>
        <p:spPr>
          <a:xfrm>
            <a:off x="938213" y="2900363"/>
            <a:ext cx="219551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Ranking</a:t>
            </a:r>
            <a:endParaRPr sz="500"/>
          </a:p>
        </p:txBody>
      </p:sp>
      <p:sp>
        <p:nvSpPr>
          <p:cNvPr id="237" name="Google Shape;237;p29"/>
          <p:cNvSpPr txBox="1"/>
          <p:nvPr/>
        </p:nvSpPr>
        <p:spPr>
          <a:xfrm>
            <a:off x="938213" y="3767138"/>
            <a:ext cx="219551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ROI Maximization</a:t>
            </a:r>
            <a:endParaRPr sz="500"/>
          </a:p>
        </p:txBody>
      </p:sp>
      <p:sp>
        <p:nvSpPr>
          <p:cNvPr id="238" name="Google Shape;238;p29"/>
          <p:cNvSpPr txBox="1"/>
          <p:nvPr/>
        </p:nvSpPr>
        <p:spPr>
          <a:xfrm>
            <a:off x="3305175" y="3695700"/>
            <a:ext cx="49149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sales team efficiency and revenue impact by directing SDR outreach to the right leads at the right time.</a:t>
            </a:r>
            <a:endParaRPr sz="500"/>
          </a:p>
        </p:txBody>
      </p:sp>
      <p:sp>
        <p:nvSpPr>
          <p:cNvPr id="239" name="Google Shape;239;p29"/>
          <p:cNvSpPr txBox="1"/>
          <p:nvPr/>
        </p:nvSpPr>
        <p:spPr>
          <a:xfrm>
            <a:off x="3305175" y="1966913"/>
            <a:ext cx="49149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machine learning lead scoring model to identify and rank high-probability conversion opportunities using historical CRM data.</a:t>
            </a:r>
            <a:endParaRPr sz="500"/>
          </a:p>
        </p:txBody>
      </p:sp>
      <p:sp>
        <p:nvSpPr>
          <p:cNvPr id="240" name="Google Shape;240;p29"/>
          <p:cNvSpPr txBox="1"/>
          <p:nvPr/>
        </p:nvSpPr>
        <p:spPr>
          <a:xfrm>
            <a:off x="3305175" y="2828925"/>
            <a:ext cx="49149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probability scores for all leads and rank them by conversion likelihood, enabling systematic prioritization.</a:t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 rotWithShape="1">
          <a:blip r:embed="rId5">
            <a:alphaModFix amt="10000"/>
          </a:blip>
          <a:srcRect b="0" l="0" r="0" t="0"/>
          <a:stretch/>
        </p:blipFill>
        <p:spPr>
          <a:xfrm>
            <a:off x="6553200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0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6548438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 rotWithShape="1">
          <a:blip r:embed="rId7">
            <a:alphaModFix amt="10000"/>
          </a:blip>
          <a:srcRect b="0" l="0" r="0" t="0"/>
          <a:stretch/>
        </p:blipFill>
        <p:spPr>
          <a:xfrm>
            <a:off x="966788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 rotWithShape="1">
          <a:blip r:embed="rId8">
            <a:alphaModFix amt="60000"/>
          </a:blip>
          <a:srcRect b="0" l="0" r="0" t="0"/>
          <a:stretch/>
        </p:blipFill>
        <p:spPr>
          <a:xfrm>
            <a:off x="962025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 rotWithShape="1">
          <a:blip r:embed="rId9">
            <a:alphaModFix amt="10000"/>
          </a:blip>
          <a:srcRect b="0" l="0" r="0" t="0"/>
          <a:stretch/>
        </p:blipFill>
        <p:spPr>
          <a:xfrm>
            <a:off x="2828925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10">
            <a:alphaModFix amt="10000"/>
          </a:blip>
          <a:srcRect b="0" l="0" r="0" t="0"/>
          <a:stretch/>
        </p:blipFill>
        <p:spPr>
          <a:xfrm>
            <a:off x="4691063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 rotWithShape="1">
          <a:blip r:embed="rId11">
            <a:alphaModFix amt="60000"/>
          </a:blip>
          <a:srcRect b="0" l="0" r="0" t="0"/>
          <a:stretch/>
        </p:blipFill>
        <p:spPr>
          <a:xfrm>
            <a:off x="2824163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/>
          <p:cNvPicPr preferRelativeResize="0"/>
          <p:nvPr/>
        </p:nvPicPr>
        <p:blipFill rotWithShape="1">
          <a:blip r:embed="rId12">
            <a:alphaModFix amt="60000"/>
          </a:blip>
          <a:srcRect b="0" l="0" r="0" t="0"/>
          <a:stretch/>
        </p:blipFill>
        <p:spPr>
          <a:xfrm>
            <a:off x="4686300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Overview &amp; Key Traits</a:t>
            </a:r>
            <a:endParaRPr sz="500"/>
          </a:p>
        </p:txBody>
      </p:sp>
      <p:sp>
        <p:nvSpPr>
          <p:cNvPr id="256" name="Google Shape;256;p30"/>
          <p:cNvSpPr txBox="1"/>
          <p:nvPr/>
        </p:nvSpPr>
        <p:spPr>
          <a:xfrm>
            <a:off x="6553200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Gap</a:t>
            </a:r>
            <a:endParaRPr sz="500"/>
          </a:p>
        </p:txBody>
      </p:sp>
      <p:sp>
        <p:nvSpPr>
          <p:cNvPr id="257" name="Google Shape;257;p30"/>
          <p:cNvSpPr txBox="1"/>
          <p:nvPr/>
        </p:nvSpPr>
        <p:spPr>
          <a:xfrm>
            <a:off x="966788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sz="500"/>
          </a:p>
        </p:txBody>
      </p:sp>
      <p:sp>
        <p:nvSpPr>
          <p:cNvPr id="258" name="Google Shape;258;p30"/>
          <p:cNvSpPr txBox="1"/>
          <p:nvPr/>
        </p:nvSpPr>
        <p:spPr>
          <a:xfrm>
            <a:off x="2828925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Imbalance</a:t>
            </a:r>
            <a:endParaRPr sz="500"/>
          </a:p>
        </p:txBody>
      </p:sp>
      <p:sp>
        <p:nvSpPr>
          <p:cNvPr id="259" name="Google Shape;259;p30"/>
          <p:cNvSpPr txBox="1"/>
          <p:nvPr/>
        </p:nvSpPr>
        <p:spPr>
          <a:xfrm>
            <a:off x="4691063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sz="500"/>
          </a:p>
        </p:txBody>
      </p:sp>
      <p:sp>
        <p:nvSpPr>
          <p:cNvPr id="260" name="Google Shape;260;p30"/>
          <p:cNvSpPr txBox="1"/>
          <p:nvPr/>
        </p:nvSpPr>
        <p:spPr>
          <a:xfrm>
            <a:off x="6572250" y="2662238"/>
            <a:ext cx="15668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Distinct 7% performance gap between Mx (12.7%) and Qx (19.7%) segments</a:t>
            </a:r>
            <a:endParaRPr sz="500"/>
          </a:p>
        </p:txBody>
      </p:sp>
      <p:sp>
        <p:nvSpPr>
          <p:cNvPr id="261" name="Google Shape;261;p30"/>
          <p:cNvSpPr txBox="1"/>
          <p:nvPr/>
        </p:nvSpPr>
        <p:spPr>
          <a:xfrm>
            <a:off x="4719638" y="2662238"/>
            <a:ext cx="15430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conversion rate of 18% across the entire dataset</a:t>
            </a:r>
            <a:endParaRPr sz="500"/>
          </a:p>
        </p:txBody>
      </p:sp>
      <p:sp>
        <p:nvSpPr>
          <p:cNvPr id="262" name="Google Shape;262;p30"/>
          <p:cNvSpPr txBox="1"/>
          <p:nvPr/>
        </p:nvSpPr>
        <p:spPr>
          <a:xfrm>
            <a:off x="2857500" y="2662238"/>
            <a:ext cx="1543050" cy="70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Severe class imbalance with ~85% non-converted leads requiring specialized modeling techniques</a:t>
            </a:r>
            <a:endParaRPr sz="500"/>
          </a:p>
        </p:txBody>
      </p:sp>
      <p:sp>
        <p:nvSpPr>
          <p:cNvPr id="263" name="Google Shape;263;p30"/>
          <p:cNvSpPr txBox="1"/>
          <p:nvPr/>
        </p:nvSpPr>
        <p:spPr>
          <a:xfrm>
            <a:off x="995363" y="2662238"/>
            <a:ext cx="15430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Approximately 16,800 leads analyzed across Mx and Qx product lines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1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Technical Challenges</a:t>
            </a:r>
            <a:endParaRPr sz="500"/>
          </a:p>
        </p:txBody>
      </p:sp>
      <p:sp>
        <p:nvSpPr>
          <p:cNvPr id="271" name="Google Shape;271;p31"/>
          <p:cNvSpPr txBox="1"/>
          <p:nvPr/>
        </p:nvSpPr>
        <p:spPr>
          <a:xfrm>
            <a:off x="942975" y="1804988"/>
            <a:ext cx="35194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Severe Class Imbalance</a:t>
            </a:r>
            <a:endParaRPr sz="500"/>
          </a:p>
        </p:txBody>
      </p:sp>
      <p:sp>
        <p:nvSpPr>
          <p:cNvPr id="272" name="Google Shape;272;p31"/>
          <p:cNvSpPr txBox="1"/>
          <p:nvPr/>
        </p:nvSpPr>
        <p:spPr>
          <a:xfrm>
            <a:off x="942975" y="2652713"/>
            <a:ext cx="35194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Categorical Feature Dominance</a:t>
            </a:r>
            <a:endParaRPr sz="500"/>
          </a:p>
        </p:txBody>
      </p:sp>
      <p:sp>
        <p:nvSpPr>
          <p:cNvPr id="273" name="Google Shape;273;p31"/>
          <p:cNvSpPr txBox="1"/>
          <p:nvPr/>
        </p:nvSpPr>
        <p:spPr>
          <a:xfrm>
            <a:off x="942975" y="3500438"/>
            <a:ext cx="35194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Free-Text Job Title Complexity</a:t>
            </a:r>
            <a:endParaRPr sz="500"/>
          </a:p>
        </p:txBody>
      </p:sp>
      <p:sp>
        <p:nvSpPr>
          <p:cNvPr id="274" name="Google Shape;274;p31"/>
          <p:cNvSpPr txBox="1"/>
          <p:nvPr/>
        </p:nvSpPr>
        <p:spPr>
          <a:xfrm>
            <a:off x="4724400" y="1804988"/>
            <a:ext cx="35194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Business Explainability Requirement</a:t>
            </a:r>
            <a:endParaRPr sz="500"/>
          </a:p>
        </p:txBody>
      </p:sp>
      <p:sp>
        <p:nvSpPr>
          <p:cNvPr id="275" name="Google Shape;275;p31"/>
          <p:cNvSpPr txBox="1"/>
          <p:nvPr/>
        </p:nvSpPr>
        <p:spPr>
          <a:xfrm>
            <a:off x="4724400" y="2652713"/>
            <a:ext cx="35194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CRISP-DM Framework</a:t>
            </a:r>
            <a:endParaRPr sz="500"/>
          </a:p>
        </p:txBody>
      </p:sp>
      <p:sp>
        <p:nvSpPr>
          <p:cNvPr id="276" name="Google Shape;276;p31"/>
          <p:cNvSpPr txBox="1"/>
          <p:nvPr/>
        </p:nvSpPr>
        <p:spPr>
          <a:xfrm>
            <a:off x="942975" y="2095500"/>
            <a:ext cx="34813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85% non-converted leads required SMOTE, class weighting, and threshold optimization techniques</a:t>
            </a:r>
            <a:endParaRPr sz="500"/>
          </a:p>
        </p:txBody>
      </p:sp>
      <p:sp>
        <p:nvSpPr>
          <p:cNvPr id="277" name="Google Shape;277;p31"/>
          <p:cNvSpPr txBox="1"/>
          <p:nvPr/>
        </p:nvSpPr>
        <p:spPr>
          <a:xfrm>
            <a:off x="4724400" y="2943225"/>
            <a:ext cx="35004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Structured methodology ensured business understanding, data preparation, modeling, and deployment alignment</a:t>
            </a:r>
            <a:endParaRPr sz="500"/>
          </a:p>
        </p:txBody>
      </p:sp>
      <p:sp>
        <p:nvSpPr>
          <p:cNvPr id="278" name="Google Shape;278;p31"/>
          <p:cNvSpPr txBox="1"/>
          <p:nvPr/>
        </p:nvSpPr>
        <p:spPr>
          <a:xfrm>
            <a:off x="942975" y="3790950"/>
            <a:ext cx="34813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~4,000 unique job titles demanded NLP embeddings and semantic role classification algorithms</a:t>
            </a:r>
            <a:endParaRPr sz="500"/>
          </a:p>
        </p:txBody>
      </p:sp>
      <p:sp>
        <p:nvSpPr>
          <p:cNvPr id="279" name="Google Shape;279;p31"/>
          <p:cNvSpPr txBox="1"/>
          <p:nvPr/>
        </p:nvSpPr>
        <p:spPr>
          <a:xfrm>
            <a:off x="4724400" y="2095500"/>
            <a:ext cx="3495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Sales adoption required SHAP values and interpretable feature importance for actionable insights</a:t>
            </a:r>
            <a:endParaRPr sz="500"/>
          </a:p>
        </p:txBody>
      </p:sp>
      <p:sp>
        <p:nvSpPr>
          <p:cNvPr id="280" name="Google Shape;280;p31"/>
          <p:cNvSpPr txBox="1"/>
          <p:nvPr/>
        </p:nvSpPr>
        <p:spPr>
          <a:xfrm>
            <a:off x="942975" y="2943225"/>
            <a:ext cx="34813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12700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0" i="0" lang="en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Limited numerical data necessitated advanced encoding strategies and feature interaction engineering</a:t>
            </a:r>
            <a:endParaRPr sz="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2"/>
          <p:cNvSpPr txBox="1"/>
          <p:nvPr/>
        </p:nvSpPr>
        <p:spPr>
          <a:xfrm>
            <a:off x="900113" y="981075"/>
            <a:ext cx="7343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Class Imbalance </a:t>
            </a:r>
            <a:r>
              <a:rPr lang="en" sz="3200"/>
              <a:t>in the Data</a:t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288" name="Google Shape;288;p32" title="Target Distribution &amp; Product Segment G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3613" y="1542975"/>
            <a:ext cx="6816726" cy="30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900113" y="981075"/>
            <a:ext cx="7343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Free-Text Job Title Complexity</a:t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296" name="Google Shape;296;p33" title="Seniority &amp; Function 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2815" y="1542973"/>
            <a:ext cx="6618360" cy="332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4"/>
          <p:cNvSpPr txBox="1"/>
          <p:nvPr/>
        </p:nvSpPr>
        <p:spPr>
          <a:xfrm>
            <a:off x="890588" y="962025"/>
            <a:ext cx="73628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Feature Engineering Strategy</a:t>
            </a:r>
            <a:endParaRPr sz="500"/>
          </a:p>
        </p:txBody>
      </p:sp>
      <p:sp>
        <p:nvSpPr>
          <p:cNvPr id="304" name="Google Shape;304;p34"/>
          <p:cNvSpPr txBox="1"/>
          <p:nvPr/>
        </p:nvSpPr>
        <p:spPr>
          <a:xfrm>
            <a:off x="2128838" y="2276475"/>
            <a:ext cx="610552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Premium channels (webinars, direct outreach) vs. low-value channels (organic search)</a:t>
            </a:r>
            <a:endParaRPr sz="500"/>
          </a:p>
        </p:txBody>
      </p:sp>
      <p:sp>
        <p:nvSpPr>
          <p:cNvPr id="305" name="Google Shape;305;p34"/>
          <p:cNvSpPr txBox="1"/>
          <p:nvPr/>
        </p:nvSpPr>
        <p:spPr>
          <a:xfrm>
            <a:off x="2128838" y="3076575"/>
            <a:ext cx="610552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Decision-making authority indicators (VP, Director, C-suite) predict conversion</a:t>
            </a:r>
            <a:endParaRPr sz="500"/>
          </a:p>
        </p:txBody>
      </p:sp>
      <p:sp>
        <p:nvSpPr>
          <p:cNvPr id="306" name="Google Shape;306;p34"/>
          <p:cNvSpPr txBox="1"/>
          <p:nvPr/>
        </p:nvSpPr>
        <p:spPr>
          <a:xfrm>
            <a:off x="2128838" y="2676525"/>
            <a:ext cx="610552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Company size and industry segmentation identify ideal customer profiles</a:t>
            </a:r>
            <a:endParaRPr sz="500"/>
          </a:p>
        </p:txBody>
      </p:sp>
      <p:sp>
        <p:nvSpPr>
          <p:cNvPr id="307" name="Google Shape;307;p34"/>
          <p:cNvSpPr txBox="1"/>
          <p:nvPr/>
        </p:nvSpPr>
        <p:spPr>
          <a:xfrm>
            <a:off x="2128838" y="3476625"/>
            <a:ext cx="610552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Time-based engagement signals capture momentum and buying cycle timing</a:t>
            </a:r>
            <a:endParaRPr sz="500"/>
          </a:p>
        </p:txBody>
      </p:sp>
      <p:sp>
        <p:nvSpPr>
          <p:cNvPr id="308" name="Google Shape;308;p34"/>
          <p:cNvSpPr txBox="1"/>
          <p:nvPr/>
        </p:nvSpPr>
        <p:spPr>
          <a:xfrm>
            <a:off x="952500" y="3862388"/>
            <a:ext cx="120967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Key Outcome</a:t>
            </a:r>
            <a:endParaRPr sz="500"/>
          </a:p>
        </p:txBody>
      </p:sp>
      <p:sp>
        <p:nvSpPr>
          <p:cNvPr id="309" name="Google Shape;309;p34"/>
          <p:cNvSpPr txBox="1"/>
          <p:nvPr/>
        </p:nvSpPr>
        <p:spPr>
          <a:xfrm>
            <a:off x="2128838" y="3876675"/>
            <a:ext cx="610552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Strong separation achieved between converted and non-converted lead cohorts</a:t>
            </a:r>
            <a:endParaRPr sz="500"/>
          </a:p>
        </p:txBody>
      </p:sp>
      <p:sp>
        <p:nvSpPr>
          <p:cNvPr id="310" name="Google Shape;310;p34"/>
          <p:cNvSpPr txBox="1"/>
          <p:nvPr/>
        </p:nvSpPr>
        <p:spPr>
          <a:xfrm>
            <a:off x="2128838" y="1876425"/>
            <a:ext cx="6100763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Content downloads, demo requests, webinar attendance signal buying readiness</a:t>
            </a:r>
            <a:endParaRPr sz="500"/>
          </a:p>
        </p:txBody>
      </p:sp>
      <p:sp>
        <p:nvSpPr>
          <p:cNvPr id="311" name="Google Shape;311;p34"/>
          <p:cNvSpPr txBox="1"/>
          <p:nvPr/>
        </p:nvSpPr>
        <p:spPr>
          <a:xfrm>
            <a:off x="952500" y="3462338"/>
            <a:ext cx="120967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Behavioral Recency</a:t>
            </a:r>
            <a:endParaRPr sz="500"/>
          </a:p>
        </p:txBody>
      </p:sp>
      <p:sp>
        <p:nvSpPr>
          <p:cNvPr id="312" name="Google Shape;312;p34"/>
          <p:cNvSpPr txBox="1"/>
          <p:nvPr/>
        </p:nvSpPr>
        <p:spPr>
          <a:xfrm>
            <a:off x="952500" y="3062288"/>
            <a:ext cx="120967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Role Seniority</a:t>
            </a:r>
            <a:endParaRPr sz="500"/>
          </a:p>
        </p:txBody>
      </p:sp>
      <p:sp>
        <p:nvSpPr>
          <p:cNvPr id="313" name="Google Shape;313;p34"/>
          <p:cNvSpPr txBox="1"/>
          <p:nvPr/>
        </p:nvSpPr>
        <p:spPr>
          <a:xfrm>
            <a:off x="952500" y="2662238"/>
            <a:ext cx="120967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Firmographics</a:t>
            </a:r>
            <a:endParaRPr sz="500"/>
          </a:p>
        </p:txBody>
      </p:sp>
      <p:sp>
        <p:nvSpPr>
          <p:cNvPr id="314" name="Google Shape;314;p34"/>
          <p:cNvSpPr txBox="1"/>
          <p:nvPr/>
        </p:nvSpPr>
        <p:spPr>
          <a:xfrm>
            <a:off x="952500" y="2262188"/>
            <a:ext cx="120967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Channel Efficiency</a:t>
            </a:r>
            <a:endParaRPr sz="500"/>
          </a:p>
        </p:txBody>
      </p:sp>
      <p:sp>
        <p:nvSpPr>
          <p:cNvPr id="315" name="Google Shape;315;p34"/>
          <p:cNvSpPr txBox="1"/>
          <p:nvPr/>
        </p:nvSpPr>
        <p:spPr>
          <a:xfrm>
            <a:off x="952500" y="1862138"/>
            <a:ext cx="120967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Intent Strength</a:t>
            </a:r>
            <a:endParaRPr sz="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5"/>
          <p:cNvPicPr preferRelativeResize="0"/>
          <p:nvPr/>
        </p:nvPicPr>
        <p:blipFill rotWithShape="1">
          <a:blip r:embed="rId5">
            <a:alphaModFix amt="10000"/>
          </a:blip>
          <a:srcRect b="0" l="0" r="0" t="0"/>
          <a:stretch/>
        </p:blipFill>
        <p:spPr>
          <a:xfrm>
            <a:off x="952500" y="2833688"/>
            <a:ext cx="3500438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5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>
            <a:off x="4691063" y="2833688"/>
            <a:ext cx="3500438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5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1195388" y="3981450"/>
            <a:ext cx="1666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5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>
            <a:off x="952500" y="1838325"/>
            <a:ext cx="2276475" cy="852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5"/>
          <p:cNvPicPr preferRelativeResize="0"/>
          <p:nvPr/>
        </p:nvPicPr>
        <p:blipFill rotWithShape="1">
          <a:blip r:embed="rId9">
            <a:alphaModFix amt="10000"/>
          </a:blip>
          <a:srcRect b="0" l="0" r="0" t="0"/>
          <a:stretch/>
        </p:blipFill>
        <p:spPr>
          <a:xfrm>
            <a:off x="5915025" y="1838325"/>
            <a:ext cx="2276475" cy="852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5"/>
          <p:cNvPicPr preferRelativeResize="0"/>
          <p:nvPr/>
        </p:nvPicPr>
        <p:blipFill rotWithShape="1">
          <a:blip r:embed="rId10">
            <a:alphaModFix amt="10000"/>
          </a:blip>
          <a:srcRect b="0" l="0" r="0" t="0"/>
          <a:stretch/>
        </p:blipFill>
        <p:spPr>
          <a:xfrm>
            <a:off x="3433763" y="1833563"/>
            <a:ext cx="2276475" cy="85248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5"/>
          <p:cNvSpPr txBox="1"/>
          <p:nvPr/>
        </p:nvSpPr>
        <p:spPr>
          <a:xfrm>
            <a:off x="900113" y="971550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Feature Engineering</a:t>
            </a:r>
            <a:endParaRPr sz="500"/>
          </a:p>
        </p:txBody>
      </p:sp>
      <p:sp>
        <p:nvSpPr>
          <p:cNvPr id="329" name="Google Shape;329;p35"/>
          <p:cNvSpPr txBox="1"/>
          <p:nvPr/>
        </p:nvSpPr>
        <p:spPr>
          <a:xfrm>
            <a:off x="942975" y="2967038"/>
            <a:ext cx="35194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Regulatory Urgency Scoring</a:t>
            </a:r>
            <a:endParaRPr sz="500"/>
          </a:p>
        </p:txBody>
      </p:sp>
      <p:sp>
        <p:nvSpPr>
          <p:cNvPr id="330" name="Google Shape;330;p35"/>
          <p:cNvSpPr txBox="1"/>
          <p:nvPr/>
        </p:nvSpPr>
        <p:spPr>
          <a:xfrm>
            <a:off x="4686300" y="2967038"/>
            <a:ext cx="3514725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NLP Analysis</a:t>
            </a:r>
            <a:endParaRPr sz="500"/>
          </a:p>
        </p:txBody>
      </p:sp>
      <p:sp>
        <p:nvSpPr>
          <p:cNvPr id="331" name="Google Shape;331;p35"/>
          <p:cNvSpPr txBox="1"/>
          <p:nvPr/>
        </p:nvSpPr>
        <p:spPr>
          <a:xfrm>
            <a:off x="957263" y="1962150"/>
            <a:ext cx="22669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Buying Committee Activity</a:t>
            </a:r>
            <a:endParaRPr sz="500"/>
          </a:p>
        </p:txBody>
      </p:sp>
      <p:sp>
        <p:nvSpPr>
          <p:cNvPr id="332" name="Google Shape;332;p35"/>
          <p:cNvSpPr txBox="1"/>
          <p:nvPr/>
        </p:nvSpPr>
        <p:spPr>
          <a:xfrm>
            <a:off x="5919788" y="1962150"/>
            <a:ext cx="22669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Momentum</a:t>
            </a:r>
            <a:endParaRPr sz="500"/>
          </a:p>
        </p:txBody>
      </p:sp>
      <p:sp>
        <p:nvSpPr>
          <p:cNvPr id="333" name="Google Shape;333;p35"/>
          <p:cNvSpPr txBox="1"/>
          <p:nvPr/>
        </p:nvSpPr>
        <p:spPr>
          <a:xfrm>
            <a:off x="3438525" y="1962150"/>
            <a:ext cx="22669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Cross-Product Interest</a:t>
            </a:r>
            <a:endParaRPr sz="500"/>
          </a:p>
        </p:txBody>
      </p:sp>
      <p:sp>
        <p:nvSpPr>
          <p:cNvPr id="334" name="Google Shape;334;p35"/>
          <p:cNvSpPr txBox="1"/>
          <p:nvPr/>
        </p:nvSpPr>
        <p:spPr>
          <a:xfrm>
            <a:off x="947738" y="3986213"/>
            <a:ext cx="725328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These advanced features significantly improved model discrimination power</a:t>
            </a:r>
            <a:endParaRPr sz="500"/>
          </a:p>
        </p:txBody>
      </p:sp>
      <p:sp>
        <p:nvSpPr>
          <p:cNvPr id="335" name="Google Shape;335;p35"/>
          <p:cNvSpPr txBox="1"/>
          <p:nvPr/>
        </p:nvSpPr>
        <p:spPr>
          <a:xfrm>
            <a:off x="952500" y="3219450"/>
            <a:ext cx="3495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 compliance pressure indicators (Pharma, Biotech, Medical Device) predict quality system needs</a:t>
            </a:r>
            <a:endParaRPr sz="500"/>
          </a:p>
        </p:txBody>
      </p:sp>
      <p:sp>
        <p:nvSpPr>
          <p:cNvPr id="336" name="Google Shape;336;p35"/>
          <p:cNvSpPr txBox="1"/>
          <p:nvPr/>
        </p:nvSpPr>
        <p:spPr>
          <a:xfrm>
            <a:off x="4657725" y="3219450"/>
            <a:ext cx="3562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 title embeddings and role classification extract decision-making authority from unstructured text</a:t>
            </a:r>
            <a:endParaRPr sz="500"/>
          </a:p>
        </p:txBody>
      </p:sp>
      <p:sp>
        <p:nvSpPr>
          <p:cNvPr id="337" name="Google Shape;337;p35"/>
          <p:cNvSpPr txBox="1"/>
          <p:nvPr/>
        </p:nvSpPr>
        <p:spPr>
          <a:xfrm>
            <a:off x="947738" y="2214563"/>
            <a:ext cx="22812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stakeholders from same organization signal organizational buying intent</a:t>
            </a:r>
            <a:endParaRPr sz="500"/>
          </a:p>
        </p:txBody>
      </p:sp>
      <p:sp>
        <p:nvSpPr>
          <p:cNvPr id="338" name="Google Shape;338;p35"/>
          <p:cNvSpPr txBox="1"/>
          <p:nvPr/>
        </p:nvSpPr>
        <p:spPr>
          <a:xfrm>
            <a:off x="5919788" y="2214563"/>
            <a:ext cx="2266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Seniority × intent interaction captures executive-level buying signals and urgency</a:t>
            </a:r>
            <a:endParaRPr sz="500"/>
          </a:p>
        </p:txBody>
      </p:sp>
      <p:sp>
        <p:nvSpPr>
          <p:cNvPr id="339" name="Google Shape;339;p35"/>
          <p:cNvSpPr txBox="1"/>
          <p:nvPr/>
        </p:nvSpPr>
        <p:spPr>
          <a:xfrm>
            <a:off x="3438525" y="2214563"/>
            <a:ext cx="2266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Mx + Qx combined engagement indicates broader solution needs and higher deal value</a:t>
            </a:r>
            <a:endParaRPr sz="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6"/>
          <p:cNvPicPr preferRelativeResize="0"/>
          <p:nvPr/>
        </p:nvPicPr>
        <p:blipFill rotWithShape="1">
          <a:blip r:embed="rId5">
            <a:alphaModFix amt="10000"/>
          </a:blip>
          <a:srcRect b="0" l="0" r="0" t="0"/>
          <a:stretch/>
        </p:blipFill>
        <p:spPr>
          <a:xfrm>
            <a:off x="6553200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6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6548438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6"/>
          <p:cNvPicPr preferRelativeResize="0"/>
          <p:nvPr/>
        </p:nvPicPr>
        <p:blipFill rotWithShape="1">
          <a:blip r:embed="rId7">
            <a:alphaModFix amt="10000"/>
          </a:blip>
          <a:srcRect b="0" l="0" r="0" t="0"/>
          <a:stretch/>
        </p:blipFill>
        <p:spPr>
          <a:xfrm>
            <a:off x="966788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6"/>
          <p:cNvPicPr preferRelativeResize="0"/>
          <p:nvPr/>
        </p:nvPicPr>
        <p:blipFill rotWithShape="1">
          <a:blip r:embed="rId8">
            <a:alphaModFix amt="60000"/>
          </a:blip>
          <a:srcRect b="0" l="0" r="0" t="0"/>
          <a:stretch/>
        </p:blipFill>
        <p:spPr>
          <a:xfrm>
            <a:off x="962025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6"/>
          <p:cNvPicPr preferRelativeResize="0"/>
          <p:nvPr/>
        </p:nvPicPr>
        <p:blipFill rotWithShape="1">
          <a:blip r:embed="rId9">
            <a:alphaModFix amt="10000"/>
          </a:blip>
          <a:srcRect b="0" l="0" r="0" t="0"/>
          <a:stretch/>
        </p:blipFill>
        <p:spPr>
          <a:xfrm>
            <a:off x="2828925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6"/>
          <p:cNvPicPr preferRelativeResize="0"/>
          <p:nvPr/>
        </p:nvPicPr>
        <p:blipFill rotWithShape="1">
          <a:blip r:embed="rId10">
            <a:alphaModFix amt="10000"/>
          </a:blip>
          <a:srcRect b="0" l="0" r="0" t="0"/>
          <a:stretch/>
        </p:blipFill>
        <p:spPr>
          <a:xfrm>
            <a:off x="4691063" y="2381250"/>
            <a:ext cx="1600200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6"/>
          <p:cNvPicPr preferRelativeResize="0"/>
          <p:nvPr/>
        </p:nvPicPr>
        <p:blipFill rotWithShape="1">
          <a:blip r:embed="rId11">
            <a:alphaModFix amt="60000"/>
          </a:blip>
          <a:srcRect b="0" l="0" r="0" t="0"/>
          <a:stretch/>
        </p:blipFill>
        <p:spPr>
          <a:xfrm>
            <a:off x="2824163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6"/>
          <p:cNvPicPr preferRelativeResize="0"/>
          <p:nvPr/>
        </p:nvPicPr>
        <p:blipFill rotWithShape="1">
          <a:blip r:embed="rId12">
            <a:alphaModFix amt="60000"/>
          </a:blip>
          <a:srcRect b="0" l="0" r="0" t="0"/>
          <a:stretch/>
        </p:blipFill>
        <p:spPr>
          <a:xfrm>
            <a:off x="4686300" y="1833563"/>
            <a:ext cx="1604963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6"/>
          <p:cNvSpPr txBox="1"/>
          <p:nvPr/>
        </p:nvSpPr>
        <p:spPr>
          <a:xfrm>
            <a:off x="900113" y="981075"/>
            <a:ext cx="73437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Analysis: Key Findings</a:t>
            </a:r>
            <a:endParaRPr sz="500"/>
          </a:p>
        </p:txBody>
      </p:sp>
      <p:sp>
        <p:nvSpPr>
          <p:cNvPr id="355" name="Google Shape;355;p36"/>
          <p:cNvSpPr txBox="1"/>
          <p:nvPr/>
        </p:nvSpPr>
        <p:spPr>
          <a:xfrm>
            <a:off x="6553200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Mx Performance</a:t>
            </a:r>
            <a:endParaRPr sz="500"/>
          </a:p>
        </p:txBody>
      </p:sp>
      <p:sp>
        <p:nvSpPr>
          <p:cNvPr id="356" name="Google Shape;356;p36"/>
          <p:cNvSpPr txBox="1"/>
          <p:nvPr/>
        </p:nvSpPr>
        <p:spPr>
          <a:xfrm>
            <a:off x="966788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sz="500"/>
          </a:p>
        </p:txBody>
      </p:sp>
      <p:sp>
        <p:nvSpPr>
          <p:cNvPr id="357" name="Google Shape;357;p36"/>
          <p:cNvSpPr txBox="1"/>
          <p:nvPr/>
        </p:nvSpPr>
        <p:spPr>
          <a:xfrm>
            <a:off x="2828925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Senior Role Impact</a:t>
            </a:r>
            <a:endParaRPr sz="500"/>
          </a:p>
        </p:txBody>
      </p:sp>
      <p:sp>
        <p:nvSpPr>
          <p:cNvPr id="358" name="Google Shape;358;p36"/>
          <p:cNvSpPr txBox="1"/>
          <p:nvPr/>
        </p:nvSpPr>
        <p:spPr>
          <a:xfrm>
            <a:off x="4691063" y="1928813"/>
            <a:ext cx="15954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sz="500"/>
          </a:p>
        </p:txBody>
      </p:sp>
      <p:sp>
        <p:nvSpPr>
          <p:cNvPr id="359" name="Google Shape;359;p36"/>
          <p:cNvSpPr txBox="1"/>
          <p:nvPr/>
        </p:nvSpPr>
        <p:spPr>
          <a:xfrm>
            <a:off x="6581775" y="2662238"/>
            <a:ext cx="15430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Mx gap driven by targeting misalignment, not product quality issues</a:t>
            </a:r>
            <a:endParaRPr sz="500"/>
          </a:p>
        </p:txBody>
      </p:sp>
      <p:sp>
        <p:nvSpPr>
          <p:cNvPr id="360" name="Google Shape;360;p36"/>
          <p:cNvSpPr txBox="1"/>
          <p:nvPr/>
        </p:nvSpPr>
        <p:spPr>
          <a:xfrm>
            <a:off x="4719638" y="2662238"/>
            <a:ext cx="1543050" cy="70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and Regulatory functions show 25% higher conversion than other departments</a:t>
            </a:r>
            <a:endParaRPr sz="500"/>
          </a:p>
        </p:txBody>
      </p:sp>
      <p:sp>
        <p:nvSpPr>
          <p:cNvPr id="361" name="Google Shape;361;p36"/>
          <p:cNvSpPr txBox="1"/>
          <p:nvPr/>
        </p:nvSpPr>
        <p:spPr>
          <a:xfrm>
            <a:off x="2833688" y="2662238"/>
            <a:ext cx="15906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VP and Director roles convert at 2x the rate of individual contributors</a:t>
            </a:r>
            <a:endParaRPr sz="500"/>
          </a:p>
        </p:txBody>
      </p:sp>
      <p:sp>
        <p:nvSpPr>
          <p:cNvPr id="362" name="Google Shape;362;p36"/>
          <p:cNvSpPr txBox="1"/>
          <p:nvPr/>
        </p:nvSpPr>
        <p:spPr>
          <a:xfrm>
            <a:off x="966788" y="2662238"/>
            <a:ext cx="15906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Premium channels (webinars, demos) convert 3x higher than low-value channels</a:t>
            </a:r>
            <a:endParaRPr sz="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 rot="-5400000">
            <a:off x="1824038" y="871538"/>
            <a:ext cx="419100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7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 rot="5400000">
            <a:off x="5443538" y="-585787"/>
            <a:ext cx="41910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7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 rot="-5400000">
            <a:off x="1824038" y="1371600"/>
            <a:ext cx="419100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7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 rot="5400000">
            <a:off x="5443538" y="-85725"/>
            <a:ext cx="41910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9">
            <a:alphaModFix amt="50000"/>
          </a:blip>
          <a:srcRect b="0" l="0" r="0" t="0"/>
          <a:stretch/>
        </p:blipFill>
        <p:spPr>
          <a:xfrm rot="-5400000">
            <a:off x="1824038" y="1871663"/>
            <a:ext cx="419100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7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 rot="5400000">
            <a:off x="5443538" y="414338"/>
            <a:ext cx="41910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7"/>
          <p:cNvPicPr preferRelativeResize="0"/>
          <p:nvPr/>
        </p:nvPicPr>
        <p:blipFill rotWithShape="1">
          <a:blip r:embed="rId10">
            <a:alphaModFix amt="50000"/>
          </a:blip>
          <a:srcRect b="0" l="0" r="0" t="0"/>
          <a:stretch/>
        </p:blipFill>
        <p:spPr>
          <a:xfrm rot="-5400000">
            <a:off x="1824038" y="2371725"/>
            <a:ext cx="419100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7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 rot="5400000">
            <a:off x="5443538" y="914400"/>
            <a:ext cx="419100" cy="507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 rotWithShape="1">
          <a:blip r:embed="rId11">
            <a:alphaModFix amt="50000"/>
          </a:blip>
          <a:srcRect b="0" l="0" r="0" t="0"/>
          <a:stretch/>
        </p:blipFill>
        <p:spPr>
          <a:xfrm rot="-5400000">
            <a:off x="1824038" y="2871788"/>
            <a:ext cx="419100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/>
          <p:cNvPicPr preferRelativeResize="0"/>
          <p:nvPr/>
        </p:nvPicPr>
        <p:blipFill rotWithShape="1">
          <a:blip r:embed="rId12">
            <a:alphaModFix amt="10000"/>
          </a:blip>
          <a:srcRect b="0" l="0" r="0" t="0"/>
          <a:stretch/>
        </p:blipFill>
        <p:spPr>
          <a:xfrm rot="5400000">
            <a:off x="5443538" y="1414463"/>
            <a:ext cx="419100" cy="507206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7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Modeling Approach &amp; Selection</a:t>
            </a:r>
            <a:endParaRPr sz="500"/>
          </a:p>
        </p:txBody>
      </p:sp>
      <p:sp>
        <p:nvSpPr>
          <p:cNvPr id="380" name="Google Shape;380;p37"/>
          <p:cNvSpPr txBox="1"/>
          <p:nvPr/>
        </p:nvSpPr>
        <p:spPr>
          <a:xfrm>
            <a:off x="938212" y="1847850"/>
            <a:ext cx="2190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500"/>
          </a:p>
        </p:txBody>
      </p:sp>
      <p:sp>
        <p:nvSpPr>
          <p:cNvPr id="381" name="Google Shape;381;p37"/>
          <p:cNvSpPr txBox="1"/>
          <p:nvPr/>
        </p:nvSpPr>
        <p:spPr>
          <a:xfrm>
            <a:off x="938212" y="2343150"/>
            <a:ext cx="2190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500"/>
          </a:p>
        </p:txBody>
      </p:sp>
      <p:sp>
        <p:nvSpPr>
          <p:cNvPr id="382" name="Google Shape;382;p37"/>
          <p:cNvSpPr txBox="1"/>
          <p:nvPr/>
        </p:nvSpPr>
        <p:spPr>
          <a:xfrm>
            <a:off x="938212" y="2843213"/>
            <a:ext cx="2190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Boosting Suite</a:t>
            </a:r>
            <a:endParaRPr sz="500"/>
          </a:p>
        </p:txBody>
      </p:sp>
      <p:sp>
        <p:nvSpPr>
          <p:cNvPr id="383" name="Google Shape;383;p37"/>
          <p:cNvSpPr txBox="1"/>
          <p:nvPr/>
        </p:nvSpPr>
        <p:spPr>
          <a:xfrm>
            <a:off x="938212" y="3343275"/>
            <a:ext cx="2190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CatBoost</a:t>
            </a:r>
            <a:endParaRPr sz="500"/>
          </a:p>
        </p:txBody>
      </p:sp>
      <p:sp>
        <p:nvSpPr>
          <p:cNvPr id="384" name="Google Shape;384;p37"/>
          <p:cNvSpPr txBox="1"/>
          <p:nvPr/>
        </p:nvSpPr>
        <p:spPr>
          <a:xfrm>
            <a:off x="938212" y="3843338"/>
            <a:ext cx="2190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 Techniques</a:t>
            </a:r>
            <a:endParaRPr sz="500"/>
          </a:p>
        </p:txBody>
      </p:sp>
      <p:sp>
        <p:nvSpPr>
          <p:cNvPr id="385" name="Google Shape;385;p37"/>
          <p:cNvSpPr txBox="1"/>
          <p:nvPr/>
        </p:nvSpPr>
        <p:spPr>
          <a:xfrm>
            <a:off x="3305175" y="1871663"/>
            <a:ext cx="4919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 model providing interpretability and coefficient-based feature importance</a:t>
            </a:r>
            <a:endParaRPr sz="500"/>
          </a:p>
        </p:txBody>
      </p:sp>
      <p:sp>
        <p:nvSpPr>
          <p:cNvPr id="386" name="Google Shape;386;p37"/>
          <p:cNvSpPr txBox="1"/>
          <p:nvPr/>
        </p:nvSpPr>
        <p:spPr>
          <a:xfrm>
            <a:off x="3305175" y="2371725"/>
            <a:ext cx="4919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Non-linear pattern detection with feature interaction discovery</a:t>
            </a:r>
            <a:endParaRPr sz="500"/>
          </a:p>
        </p:txBody>
      </p:sp>
      <p:sp>
        <p:nvSpPr>
          <p:cNvPr id="387" name="Google Shape;387;p37"/>
          <p:cNvSpPr txBox="1"/>
          <p:nvPr/>
        </p:nvSpPr>
        <p:spPr>
          <a:xfrm>
            <a:off x="3305175" y="2871788"/>
            <a:ext cx="4919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XGBoost, LightGBM for advanced tree-based sequential error correction</a:t>
            </a:r>
            <a:endParaRPr sz="500"/>
          </a:p>
        </p:txBody>
      </p:sp>
      <p:sp>
        <p:nvSpPr>
          <p:cNvPr id="388" name="Google Shape;388;p37"/>
          <p:cNvSpPr txBox="1"/>
          <p:nvPr/>
        </p:nvSpPr>
        <p:spPr>
          <a:xfrm>
            <a:off x="3305175" y="3367088"/>
            <a:ext cx="4919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for categorical features with built-in encoding strategies</a:t>
            </a:r>
            <a:endParaRPr sz="500"/>
          </a:p>
        </p:txBody>
      </p:sp>
      <p:sp>
        <p:nvSpPr>
          <p:cNvPr id="389" name="Google Shape;389;p37"/>
          <p:cNvSpPr txBox="1"/>
          <p:nvPr/>
        </p:nvSpPr>
        <p:spPr>
          <a:xfrm>
            <a:off x="3305175" y="3867150"/>
            <a:ext cx="4919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Stacking and voting methods combined model strengths for optimal performance</a:t>
            </a:r>
            <a:endParaRPr sz="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8"/>
          <p:cNvSpPr txBox="1"/>
          <p:nvPr/>
        </p:nvSpPr>
        <p:spPr>
          <a:xfrm>
            <a:off x="885825" y="962025"/>
            <a:ext cx="737711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Evaluation Strategy</a:t>
            </a:r>
            <a:endParaRPr sz="500"/>
          </a:p>
        </p:txBody>
      </p:sp>
      <p:sp>
        <p:nvSpPr>
          <p:cNvPr id="397" name="Google Shape;397;p38"/>
          <p:cNvSpPr txBox="1"/>
          <p:nvPr/>
        </p:nvSpPr>
        <p:spPr>
          <a:xfrm>
            <a:off x="952500" y="3767138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Cross-Validation</a:t>
            </a:r>
            <a:endParaRPr sz="500"/>
          </a:p>
        </p:txBody>
      </p:sp>
      <p:sp>
        <p:nvSpPr>
          <p:cNvPr id="398" name="Google Shape;398;p38"/>
          <p:cNvSpPr txBox="1"/>
          <p:nvPr/>
        </p:nvSpPr>
        <p:spPr>
          <a:xfrm>
            <a:off x="952500" y="1881188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Primary Metric</a:t>
            </a:r>
            <a:endParaRPr sz="500"/>
          </a:p>
        </p:txBody>
      </p:sp>
      <p:sp>
        <p:nvSpPr>
          <p:cNvPr id="399" name="Google Shape;399;p38"/>
          <p:cNvSpPr txBox="1"/>
          <p:nvPr/>
        </p:nvSpPr>
        <p:spPr>
          <a:xfrm>
            <a:off x="952500" y="2352675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 sz="500"/>
          </a:p>
        </p:txBody>
      </p:sp>
      <p:sp>
        <p:nvSpPr>
          <p:cNvPr id="400" name="Google Shape;400;p38"/>
          <p:cNvSpPr txBox="1"/>
          <p:nvPr/>
        </p:nvSpPr>
        <p:spPr>
          <a:xfrm>
            <a:off x="952500" y="2824163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Generalize</a:t>
            </a:r>
            <a:endParaRPr sz="500"/>
          </a:p>
        </p:txBody>
      </p:sp>
      <p:sp>
        <p:nvSpPr>
          <p:cNvPr id="401" name="Google Shape;401;p38"/>
          <p:cNvSpPr txBox="1"/>
          <p:nvPr/>
        </p:nvSpPr>
        <p:spPr>
          <a:xfrm>
            <a:off x="952500" y="3295650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Business Fit</a:t>
            </a:r>
            <a:endParaRPr sz="500"/>
          </a:p>
        </p:txBody>
      </p:sp>
      <p:sp>
        <p:nvSpPr>
          <p:cNvPr id="402" name="Google Shape;402;p38"/>
          <p:cNvSpPr txBox="1"/>
          <p:nvPr/>
        </p:nvSpPr>
        <p:spPr>
          <a:xfrm>
            <a:off x="2281238" y="3800475"/>
            <a:ext cx="595788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Stratified k-fold validation ensures robust performance estimation across data splits</a:t>
            </a:r>
            <a:endParaRPr sz="500"/>
          </a:p>
        </p:txBody>
      </p:sp>
      <p:sp>
        <p:nvSpPr>
          <p:cNvPr id="403" name="Google Shape;403;p38"/>
          <p:cNvSpPr txBox="1"/>
          <p:nvPr/>
        </p:nvSpPr>
        <p:spPr>
          <a:xfrm>
            <a:off x="2281238" y="1914525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AUC-ROC measures ranking performance and lead prioritization effectiveness</a:t>
            </a:r>
            <a:endParaRPr sz="500"/>
          </a:p>
        </p:txBody>
      </p:sp>
      <p:sp>
        <p:nvSpPr>
          <p:cNvPr id="404" name="Google Shape;404;p38"/>
          <p:cNvSpPr txBox="1"/>
          <p:nvPr/>
        </p:nvSpPr>
        <p:spPr>
          <a:xfrm>
            <a:off x="2281238" y="2386013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Precision, Recall, F1-score, and calibration analysis ensure balanced performance</a:t>
            </a:r>
            <a:endParaRPr sz="500"/>
          </a:p>
        </p:txBody>
      </p:sp>
      <p:sp>
        <p:nvSpPr>
          <p:cNvPr id="405" name="Google Shape;405;p38"/>
          <p:cNvSpPr txBox="1"/>
          <p:nvPr/>
        </p:nvSpPr>
        <p:spPr>
          <a:xfrm>
            <a:off x="2281238" y="2857500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Rigorous test set validation prevents overfitting and ensures real-world applicability</a:t>
            </a:r>
            <a:endParaRPr sz="500"/>
          </a:p>
        </p:txBody>
      </p:sp>
      <p:sp>
        <p:nvSpPr>
          <p:cNvPr id="406" name="Google Shape;406;p38"/>
          <p:cNvSpPr txBox="1"/>
          <p:nvPr/>
        </p:nvSpPr>
        <p:spPr>
          <a:xfrm>
            <a:off x="2281238" y="3328988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Prioritized actionable insights over raw accuracy for sales team adoption</a:t>
            </a:r>
            <a:endParaRPr sz="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9" title="Model Comparison- CV vs. Validation AU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8488" y="1523925"/>
            <a:ext cx="6471799" cy="322712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9"/>
          <p:cNvSpPr txBox="1"/>
          <p:nvPr/>
        </p:nvSpPr>
        <p:spPr>
          <a:xfrm>
            <a:off x="885888" y="533325"/>
            <a:ext cx="7377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200" u="none" strike="noStrike">
                <a:solidFill>
                  <a:srgbClr val="000000"/>
                </a:solidFill>
              </a:rPr>
              <a:t>Model Evaluation Strategy Visualization Part </a:t>
            </a:r>
            <a:r>
              <a:rPr lang="en" sz="3200"/>
              <a:t>1</a:t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0"/>
          <p:cNvSpPr txBox="1"/>
          <p:nvPr/>
        </p:nvSpPr>
        <p:spPr>
          <a:xfrm>
            <a:off x="885900" y="422425"/>
            <a:ext cx="7377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200" u="none" strike="noStrike">
                <a:solidFill>
                  <a:srgbClr val="000000"/>
                </a:solidFill>
              </a:rPr>
              <a:t>Model Evaluation Strategy Visualization Part 2</a:t>
            </a:r>
            <a:endParaRPr i="0" sz="3200" u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422" name="Google Shape;422;p40" title="ROC &amp; Precision-Recall Curves.png"/>
          <p:cNvPicPr preferRelativeResize="0"/>
          <p:nvPr/>
        </p:nvPicPr>
        <p:blipFill rotWithShape="1">
          <a:blip r:embed="rId5">
            <a:alphaModFix/>
          </a:blip>
          <a:srcRect b="2616" l="0" r="0" t="2606"/>
          <a:stretch/>
        </p:blipFill>
        <p:spPr>
          <a:xfrm>
            <a:off x="1338488" y="1523925"/>
            <a:ext cx="6471799" cy="322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1"/>
          <p:cNvSpPr txBox="1"/>
          <p:nvPr/>
        </p:nvSpPr>
        <p:spPr>
          <a:xfrm>
            <a:off x="885900" y="422425"/>
            <a:ext cx="7377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200" u="none" strike="noStrike">
                <a:solidFill>
                  <a:srgbClr val="000000"/>
                </a:solidFill>
              </a:rPr>
              <a:t>Model Evaluation Strategy Visualization Part </a:t>
            </a:r>
            <a:r>
              <a:rPr lang="en" sz="3200"/>
              <a:t>3</a:t>
            </a:r>
            <a:endParaRPr i="0" sz="3200" u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430" name="Google Shape;430;p41" title="Confusion Matrix.png"/>
          <p:cNvPicPr preferRelativeResize="0"/>
          <p:nvPr/>
        </p:nvPicPr>
        <p:blipFill rotWithShape="1">
          <a:blip r:embed="rId5">
            <a:alphaModFix/>
          </a:blip>
          <a:srcRect b="0" l="739" r="739" t="0"/>
          <a:stretch/>
        </p:blipFill>
        <p:spPr>
          <a:xfrm>
            <a:off x="1338488" y="1523925"/>
            <a:ext cx="6471799" cy="322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2"/>
          <p:cNvPicPr preferRelativeResize="0"/>
          <p:nvPr/>
        </p:nvPicPr>
        <p:blipFill rotWithShape="1">
          <a:blip r:embed="rId5">
            <a:alphaModFix amt="10000"/>
          </a:blip>
          <a:srcRect b="0" l="0" r="0" t="0"/>
          <a:stretch/>
        </p:blipFill>
        <p:spPr>
          <a:xfrm>
            <a:off x="952500" y="2833688"/>
            <a:ext cx="3500438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2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>
            <a:off x="4691063" y="2833688"/>
            <a:ext cx="3500438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2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1195388" y="3981450"/>
            <a:ext cx="1666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2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>
            <a:off x="952500" y="1838325"/>
            <a:ext cx="2276475" cy="852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2"/>
          <p:cNvPicPr preferRelativeResize="0"/>
          <p:nvPr/>
        </p:nvPicPr>
        <p:blipFill rotWithShape="1">
          <a:blip r:embed="rId9">
            <a:alphaModFix amt="10000"/>
          </a:blip>
          <a:srcRect b="0" l="0" r="0" t="0"/>
          <a:stretch/>
        </p:blipFill>
        <p:spPr>
          <a:xfrm>
            <a:off x="5915025" y="1838325"/>
            <a:ext cx="2276475" cy="852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2"/>
          <p:cNvPicPr preferRelativeResize="0"/>
          <p:nvPr/>
        </p:nvPicPr>
        <p:blipFill rotWithShape="1">
          <a:blip r:embed="rId10">
            <a:alphaModFix amt="10000"/>
          </a:blip>
          <a:srcRect b="0" l="0" r="0" t="0"/>
          <a:stretch/>
        </p:blipFill>
        <p:spPr>
          <a:xfrm>
            <a:off x="3433763" y="1833563"/>
            <a:ext cx="2276475" cy="852488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2"/>
          <p:cNvSpPr txBox="1"/>
          <p:nvPr/>
        </p:nvSpPr>
        <p:spPr>
          <a:xfrm>
            <a:off x="900113" y="971550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Explainability: SHAP Analysis</a:t>
            </a:r>
            <a:endParaRPr sz="500"/>
          </a:p>
        </p:txBody>
      </p:sp>
      <p:sp>
        <p:nvSpPr>
          <p:cNvPr id="444" name="Google Shape;444;p42"/>
          <p:cNvSpPr txBox="1"/>
          <p:nvPr/>
        </p:nvSpPr>
        <p:spPr>
          <a:xfrm>
            <a:off x="942975" y="2967038"/>
            <a:ext cx="35194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High-Intent Engagement Signals</a:t>
            </a:r>
            <a:endParaRPr sz="500"/>
          </a:p>
        </p:txBody>
      </p:sp>
      <p:sp>
        <p:nvSpPr>
          <p:cNvPr id="445" name="Google Shape;445;p42"/>
          <p:cNvSpPr txBox="1"/>
          <p:nvPr/>
        </p:nvSpPr>
        <p:spPr>
          <a:xfrm>
            <a:off x="4686300" y="2967038"/>
            <a:ext cx="3514725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Actionable Sales Intelligence</a:t>
            </a:r>
            <a:endParaRPr sz="500"/>
          </a:p>
        </p:txBody>
      </p:sp>
      <p:sp>
        <p:nvSpPr>
          <p:cNvPr id="446" name="Google Shape;446;p42"/>
          <p:cNvSpPr txBox="1"/>
          <p:nvPr/>
        </p:nvSpPr>
        <p:spPr>
          <a:xfrm>
            <a:off x="957263" y="1962150"/>
            <a:ext cx="22669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Senior Decision-Makers</a:t>
            </a:r>
            <a:endParaRPr sz="500"/>
          </a:p>
        </p:txBody>
      </p:sp>
      <p:sp>
        <p:nvSpPr>
          <p:cNvPr id="447" name="Google Shape;447;p42"/>
          <p:cNvSpPr txBox="1"/>
          <p:nvPr/>
        </p:nvSpPr>
        <p:spPr>
          <a:xfrm>
            <a:off x="5919788" y="1962150"/>
            <a:ext cx="22669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Premium Channels</a:t>
            </a:r>
            <a:endParaRPr sz="500"/>
          </a:p>
        </p:txBody>
      </p:sp>
      <p:sp>
        <p:nvSpPr>
          <p:cNvPr id="448" name="Google Shape;448;p42"/>
          <p:cNvSpPr txBox="1"/>
          <p:nvPr/>
        </p:nvSpPr>
        <p:spPr>
          <a:xfrm>
            <a:off x="3438525" y="1962150"/>
            <a:ext cx="22669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&amp; Regulatory Roles</a:t>
            </a:r>
            <a:endParaRPr sz="500"/>
          </a:p>
        </p:txBody>
      </p:sp>
      <p:sp>
        <p:nvSpPr>
          <p:cNvPr id="449" name="Google Shape;449;p42"/>
          <p:cNvSpPr txBox="1"/>
          <p:nvPr/>
        </p:nvSpPr>
        <p:spPr>
          <a:xfrm>
            <a:off x="947738" y="3986213"/>
            <a:ext cx="725328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SHAP values reveal which features drive predictions, ensuring transparency and trust for sales adoption</a:t>
            </a:r>
            <a:endParaRPr sz="500"/>
          </a:p>
        </p:txBody>
      </p:sp>
      <p:sp>
        <p:nvSpPr>
          <p:cNvPr id="450" name="Google Shape;450;p42"/>
          <p:cNvSpPr txBox="1"/>
          <p:nvPr/>
        </p:nvSpPr>
        <p:spPr>
          <a:xfrm>
            <a:off x="952500" y="3219450"/>
            <a:ext cx="3495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touchpoints and recent engagement activity strongly predict conversion likelihood</a:t>
            </a:r>
            <a:endParaRPr sz="500"/>
          </a:p>
        </p:txBody>
      </p:sp>
      <p:sp>
        <p:nvSpPr>
          <p:cNvPr id="451" name="Google Shape;451;p42"/>
          <p:cNvSpPr txBox="1"/>
          <p:nvPr/>
        </p:nvSpPr>
        <p:spPr>
          <a:xfrm>
            <a:off x="4681538" y="3219450"/>
            <a:ext cx="35194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outputs are interpretable and directly actionable, enabling SDRs to prioritize effectively</a:t>
            </a:r>
            <a:endParaRPr sz="500"/>
          </a:p>
        </p:txBody>
      </p:sp>
      <p:sp>
        <p:nvSpPr>
          <p:cNvPr id="452" name="Google Shape;452;p42"/>
          <p:cNvSpPr txBox="1"/>
          <p:nvPr/>
        </p:nvSpPr>
        <p:spPr>
          <a:xfrm>
            <a:off x="957263" y="2214563"/>
            <a:ext cx="226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VP, Director, and C-suite roles are the strongest conversion drivers</a:t>
            </a:r>
            <a:endParaRPr sz="500"/>
          </a:p>
        </p:txBody>
      </p:sp>
      <p:sp>
        <p:nvSpPr>
          <p:cNvPr id="453" name="Google Shape;453;p42"/>
          <p:cNvSpPr txBox="1"/>
          <p:nvPr/>
        </p:nvSpPr>
        <p:spPr>
          <a:xfrm>
            <a:off x="5919788" y="2214563"/>
            <a:ext cx="226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Webinars, demos, and direct outreach significantly outperform low-value channels</a:t>
            </a:r>
            <a:endParaRPr sz="500"/>
          </a:p>
        </p:txBody>
      </p:sp>
      <p:sp>
        <p:nvSpPr>
          <p:cNvPr id="454" name="Google Shape;454;p42"/>
          <p:cNvSpPr txBox="1"/>
          <p:nvPr/>
        </p:nvSpPr>
        <p:spPr>
          <a:xfrm>
            <a:off x="3438525" y="2214563"/>
            <a:ext cx="226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Highest conversion probability among all functional areas</a:t>
            </a:r>
            <a:endParaRPr sz="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3"/>
          <p:cNvSpPr txBox="1"/>
          <p:nvPr/>
        </p:nvSpPr>
        <p:spPr>
          <a:xfrm>
            <a:off x="152400" y="1852347"/>
            <a:ext cx="3677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>
                <a:solidFill>
                  <a:schemeClr val="dk1"/>
                </a:solidFill>
              </a:rPr>
              <a:t>SHAP Analysis Visualization Part 1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462" name="Google Shape;462;p43" title="SHAP Explainabil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400" y="185750"/>
            <a:ext cx="5166975" cy="477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4"/>
          <p:cNvSpPr txBox="1"/>
          <p:nvPr/>
        </p:nvSpPr>
        <p:spPr>
          <a:xfrm>
            <a:off x="152400" y="1852347"/>
            <a:ext cx="3677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SHAP Analysis Visualization Part 2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470" name="Google Shape;470;p44" title="SHAP Dependence Plo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500" y="681389"/>
            <a:ext cx="5166874" cy="378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5"/>
          <p:cNvSpPr txBox="1"/>
          <p:nvPr/>
        </p:nvSpPr>
        <p:spPr>
          <a:xfrm>
            <a:off x="885825" y="962025"/>
            <a:ext cx="737711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Impact Quantification</a:t>
            </a:r>
            <a:endParaRPr sz="500"/>
          </a:p>
        </p:txBody>
      </p:sp>
      <p:sp>
        <p:nvSpPr>
          <p:cNvPr id="478" name="Google Shape;478;p45"/>
          <p:cNvSpPr txBox="1"/>
          <p:nvPr/>
        </p:nvSpPr>
        <p:spPr>
          <a:xfrm>
            <a:off x="952500" y="3767138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ROI</a:t>
            </a:r>
            <a:endParaRPr sz="500"/>
          </a:p>
        </p:txBody>
      </p:sp>
      <p:sp>
        <p:nvSpPr>
          <p:cNvPr id="479" name="Google Shape;479;p45"/>
          <p:cNvSpPr txBox="1"/>
          <p:nvPr/>
        </p:nvSpPr>
        <p:spPr>
          <a:xfrm>
            <a:off x="952500" y="1881188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sz="500"/>
          </a:p>
        </p:txBody>
      </p:sp>
      <p:sp>
        <p:nvSpPr>
          <p:cNvPr id="480" name="Google Shape;480;p45"/>
          <p:cNvSpPr txBox="1"/>
          <p:nvPr/>
        </p:nvSpPr>
        <p:spPr>
          <a:xfrm>
            <a:off x="952500" y="2352675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sz="500"/>
          </a:p>
        </p:txBody>
      </p:sp>
      <p:sp>
        <p:nvSpPr>
          <p:cNvPr id="481" name="Google Shape;481;p45"/>
          <p:cNvSpPr txBox="1"/>
          <p:nvPr/>
        </p:nvSpPr>
        <p:spPr>
          <a:xfrm>
            <a:off x="952500" y="2824163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sz="500"/>
          </a:p>
        </p:txBody>
      </p:sp>
      <p:sp>
        <p:nvSpPr>
          <p:cNvPr id="482" name="Google Shape;482;p45"/>
          <p:cNvSpPr txBox="1"/>
          <p:nvPr/>
        </p:nvSpPr>
        <p:spPr>
          <a:xfrm>
            <a:off x="952500" y="3295650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Allocation</a:t>
            </a:r>
            <a:endParaRPr sz="500"/>
          </a:p>
        </p:txBody>
      </p:sp>
      <p:sp>
        <p:nvSpPr>
          <p:cNvPr id="483" name="Google Shape;483;p45"/>
          <p:cNvSpPr txBox="1"/>
          <p:nvPr/>
        </p:nvSpPr>
        <p:spPr>
          <a:xfrm>
            <a:off x="2281238" y="3800475"/>
            <a:ext cx="595788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Measurable ROI improvement through targeted outreach to high-probability leads</a:t>
            </a:r>
            <a:endParaRPr sz="500"/>
          </a:p>
        </p:txBody>
      </p:sp>
      <p:sp>
        <p:nvSpPr>
          <p:cNvPr id="484" name="Google Shape;484;p45"/>
          <p:cNvSpPr txBox="1"/>
          <p:nvPr/>
        </p:nvSpPr>
        <p:spPr>
          <a:xfrm>
            <a:off x="2281238" y="1914525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Model generates probability scores for all leads, ranking conversion likelihood</a:t>
            </a:r>
            <a:endParaRPr sz="500"/>
          </a:p>
        </p:txBody>
      </p:sp>
      <p:sp>
        <p:nvSpPr>
          <p:cNvPr id="485" name="Google Shape;485;p45"/>
          <p:cNvSpPr txBox="1"/>
          <p:nvPr/>
        </p:nvSpPr>
        <p:spPr>
          <a:xfrm>
            <a:off x="2281238" y="2386013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Ranked lead lists enable optimal SDR contact strategy and time allocation</a:t>
            </a:r>
            <a:endParaRPr sz="500"/>
          </a:p>
        </p:txBody>
      </p:sp>
      <p:sp>
        <p:nvSpPr>
          <p:cNvPr id="486" name="Google Shape;486;p45"/>
          <p:cNvSpPr txBox="1"/>
          <p:nvPr/>
        </p:nvSpPr>
        <p:spPr>
          <a:xfrm>
            <a:off x="2281238" y="2857500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Profit maximization through data-driven lead selection and prioritization</a:t>
            </a:r>
            <a:endParaRPr sz="500"/>
          </a:p>
        </p:txBody>
      </p:sp>
      <p:sp>
        <p:nvSpPr>
          <p:cNvPr id="487" name="Google Shape;487;p45"/>
          <p:cNvSpPr txBox="1"/>
          <p:nvPr/>
        </p:nvSpPr>
        <p:spPr>
          <a:xfrm>
            <a:off x="2281238" y="3328988"/>
            <a:ext cx="59483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Resource allocation optimized based on conversion likelihood scores</a:t>
            </a:r>
            <a:endParaRPr sz="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 txBox="1"/>
          <p:nvPr/>
        </p:nvSpPr>
        <p:spPr>
          <a:xfrm>
            <a:off x="152400" y="704847"/>
            <a:ext cx="3677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Business Impact Visualization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495" name="Google Shape;495;p46" title="Profit, Gains, Lift &amp; Dec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4251" y="469875"/>
            <a:ext cx="5272124" cy="420852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6"/>
          <p:cNvSpPr txBox="1"/>
          <p:nvPr/>
        </p:nvSpPr>
        <p:spPr>
          <a:xfrm>
            <a:off x="152400" y="2708000"/>
            <a:ext cx="36771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</a:rPr>
              <a:t>**Optimal Profit Configuration**</a:t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Metric            | Value     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|:------------------|:-----------|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Optimal Threshold | 0.076     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Leads to Contact  | 951       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SQLs Captured     | 297       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% Population      | 56.5%     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SQL Capture Rate  | 98.7%     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Net Profit        | $1,734,450 |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| Lift vs Random    | 1.7x       |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7"/>
          <p:cNvSpPr txBox="1"/>
          <p:nvPr/>
        </p:nvSpPr>
        <p:spPr>
          <a:xfrm>
            <a:off x="900113" y="981075"/>
            <a:ext cx="7343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Class Imbalance in the Data</a:t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504" name="Google Shape;504;p47" title="Target Distribution &amp; Product Segment G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3613" y="1542975"/>
            <a:ext cx="6816726" cy="30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5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8"/>
          <p:cNvSpPr txBox="1"/>
          <p:nvPr/>
        </p:nvSpPr>
        <p:spPr>
          <a:xfrm>
            <a:off x="152400" y="704850"/>
            <a:ext cx="88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Final Model Summary KPIs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12" name="Google Shape;512;p48"/>
          <p:cNvSpPr txBox="1"/>
          <p:nvPr/>
        </p:nvSpPr>
        <p:spPr>
          <a:xfrm>
            <a:off x="152400" y="1384950"/>
            <a:ext cx="8844000" cy="3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Metric            | Value 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|:------------------|:---------------|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Test AUC-ROC      | 0.9147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Average Precision | 0.6993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Best Model        | VotingEnsemble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Optimal Threshold | 0.076 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Max Profit (Test) | $1,734,450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Annual Lift       | $150,600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Calls Required    | 951 (57%)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SQL Capture       | 99%   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Top Decile Conv.  | 77.5% 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| Baseline Conv.    | 17.9%          |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9"/>
          <p:cNvSpPr txBox="1"/>
          <p:nvPr/>
        </p:nvSpPr>
        <p:spPr>
          <a:xfrm>
            <a:off x="885825" y="962025"/>
            <a:ext cx="737711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sz="500"/>
          </a:p>
        </p:txBody>
      </p:sp>
      <p:sp>
        <p:nvSpPr>
          <p:cNvPr id="520" name="Google Shape;520;p49"/>
          <p:cNvSpPr txBox="1"/>
          <p:nvPr/>
        </p:nvSpPr>
        <p:spPr>
          <a:xfrm>
            <a:off x="6805613" y="2009775"/>
            <a:ext cx="13096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Re-engagement</a:t>
            </a:r>
            <a:endParaRPr sz="500"/>
          </a:p>
        </p:txBody>
      </p:sp>
      <p:sp>
        <p:nvSpPr>
          <p:cNvPr id="521" name="Google Shape;521;p49"/>
          <p:cNvSpPr txBox="1"/>
          <p:nvPr/>
        </p:nvSpPr>
        <p:spPr>
          <a:xfrm>
            <a:off x="981075" y="2009775"/>
            <a:ext cx="13096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sz="500"/>
          </a:p>
        </p:txBody>
      </p:sp>
      <p:sp>
        <p:nvSpPr>
          <p:cNvPr id="522" name="Google Shape;522;p49"/>
          <p:cNvSpPr txBox="1"/>
          <p:nvPr/>
        </p:nvSpPr>
        <p:spPr>
          <a:xfrm>
            <a:off x="2438400" y="2009775"/>
            <a:ext cx="13096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 sz="500"/>
          </a:p>
        </p:txBody>
      </p:sp>
      <p:sp>
        <p:nvSpPr>
          <p:cNvPr id="523" name="Google Shape;523;p49"/>
          <p:cNvSpPr txBox="1"/>
          <p:nvPr/>
        </p:nvSpPr>
        <p:spPr>
          <a:xfrm>
            <a:off x="3890963" y="2009775"/>
            <a:ext cx="13096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Seniority</a:t>
            </a:r>
            <a:endParaRPr sz="500"/>
          </a:p>
        </p:txBody>
      </p:sp>
      <p:sp>
        <p:nvSpPr>
          <p:cNvPr id="524" name="Google Shape;524;p49"/>
          <p:cNvSpPr txBox="1"/>
          <p:nvPr/>
        </p:nvSpPr>
        <p:spPr>
          <a:xfrm>
            <a:off x="5348288" y="2009775"/>
            <a:ext cx="1309688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sz="500"/>
          </a:p>
        </p:txBody>
      </p:sp>
      <p:sp>
        <p:nvSpPr>
          <p:cNvPr id="525" name="Google Shape;525;p49"/>
          <p:cNvSpPr txBox="1"/>
          <p:nvPr/>
        </p:nvSpPr>
        <p:spPr>
          <a:xfrm>
            <a:off x="6805613" y="2381250"/>
            <a:ext cx="12525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Re-engage high-scoring recycled leads</a:t>
            </a:r>
            <a:endParaRPr sz="500"/>
          </a:p>
        </p:txBody>
      </p:sp>
      <p:sp>
        <p:nvSpPr>
          <p:cNvPr id="526" name="Google Shape;526;p49"/>
          <p:cNvSpPr txBox="1"/>
          <p:nvPr/>
        </p:nvSpPr>
        <p:spPr>
          <a:xfrm>
            <a:off x="981075" y="2381250"/>
            <a:ext cx="125253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Focus SDR time exclusively on top-ranked leads</a:t>
            </a:r>
            <a:endParaRPr sz="500"/>
          </a:p>
        </p:txBody>
      </p:sp>
      <p:sp>
        <p:nvSpPr>
          <p:cNvPr id="527" name="Google Shape;527;p49"/>
          <p:cNvSpPr txBox="1"/>
          <p:nvPr/>
        </p:nvSpPr>
        <p:spPr>
          <a:xfrm>
            <a:off x="2438400" y="2381250"/>
            <a:ext cx="12525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Target Pharma and Biotech sectors</a:t>
            </a:r>
            <a:endParaRPr sz="500"/>
          </a:p>
        </p:txBody>
      </p:sp>
      <p:sp>
        <p:nvSpPr>
          <p:cNvPr id="528" name="Google Shape;528;p49"/>
          <p:cNvSpPr txBox="1"/>
          <p:nvPr/>
        </p:nvSpPr>
        <p:spPr>
          <a:xfrm>
            <a:off x="3890963" y="2381250"/>
            <a:ext cx="12525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Engage senior decision-makers only</a:t>
            </a:r>
            <a:endParaRPr sz="500"/>
          </a:p>
        </p:txBody>
      </p:sp>
      <p:sp>
        <p:nvSpPr>
          <p:cNvPr id="529" name="Google Shape;529;p49"/>
          <p:cNvSpPr txBox="1"/>
          <p:nvPr/>
        </p:nvSpPr>
        <p:spPr>
          <a:xfrm>
            <a:off x="5348288" y="2381250"/>
            <a:ext cx="12525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Invest in high-intent engagement channels</a:t>
            </a:r>
            <a:endParaRPr sz="500"/>
          </a:p>
        </p:txBody>
      </p:sp>
      <p:sp>
        <p:nvSpPr>
          <p:cNvPr id="530" name="Google Shape;530;p49"/>
          <p:cNvSpPr txBox="1"/>
          <p:nvPr/>
        </p:nvSpPr>
        <p:spPr>
          <a:xfrm>
            <a:off x="6772275" y="3371850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Incremental conversion gains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Untapped opportunities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Cost-effective wins</a:t>
            </a:r>
            <a:endParaRPr sz="500"/>
          </a:p>
        </p:txBody>
      </p:sp>
      <p:sp>
        <p:nvSpPr>
          <p:cNvPr id="531" name="Google Shape;531;p49"/>
          <p:cNvSpPr txBox="1"/>
          <p:nvPr/>
        </p:nvSpPr>
        <p:spPr>
          <a:xfrm>
            <a:off x="947738" y="3371850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High-probability leads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Maximize conversion, cut wasted outreach</a:t>
            </a:r>
            <a:endParaRPr sz="500"/>
          </a:p>
        </p:txBody>
      </p:sp>
      <p:sp>
        <p:nvSpPr>
          <p:cNvPr id="532" name="Google Shape;532;p49"/>
          <p:cNvSpPr txBox="1"/>
          <p:nvPr/>
        </p:nvSpPr>
        <p:spPr>
          <a:xfrm>
            <a:off x="2405063" y="3371850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Regulatory compliance need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Quality systems; high conversion potential</a:t>
            </a:r>
            <a:endParaRPr sz="500"/>
          </a:p>
        </p:txBody>
      </p:sp>
      <p:sp>
        <p:nvSpPr>
          <p:cNvPr id="533" name="Google Shape;533;p49"/>
          <p:cNvSpPr txBox="1"/>
          <p:nvPr/>
        </p:nvSpPr>
        <p:spPr>
          <a:xfrm>
            <a:off x="3857625" y="3371850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VP and Director levels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C-suite contacts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Budget authority holders</a:t>
            </a:r>
            <a:endParaRPr sz="500"/>
          </a:p>
        </p:txBody>
      </p:sp>
      <p:sp>
        <p:nvSpPr>
          <p:cNvPr id="534" name="Google Shape;534;p49"/>
          <p:cNvSpPr txBox="1"/>
          <p:nvPr/>
        </p:nvSpPr>
        <p:spPr>
          <a:xfrm>
            <a:off x="5314950" y="3371850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Premium webinars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Personalized demos</a:t>
            </a:r>
            <a:endParaRPr sz="500"/>
          </a:p>
          <a:p>
            <a:pPr indent="-127000" lvl="1" marL="1270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• Direct executive outreach</a:t>
            </a:r>
            <a:endParaRPr sz="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825" y="-285750"/>
            <a:ext cx="9391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5738"/>
            <a:ext cx="88439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0"/>
          <p:cNvPicPr preferRelativeResize="0"/>
          <p:nvPr/>
        </p:nvPicPr>
        <p:blipFill rotWithShape="1">
          <a:blip r:embed="rId5">
            <a:alphaModFix amt="10000"/>
          </a:blip>
          <a:srcRect b="0" l="0" r="0" t="0"/>
          <a:stretch/>
        </p:blipFill>
        <p:spPr>
          <a:xfrm>
            <a:off x="957263" y="1790700"/>
            <a:ext cx="34956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0"/>
          <p:cNvPicPr preferRelativeResize="0"/>
          <p:nvPr/>
        </p:nvPicPr>
        <p:blipFill rotWithShape="1">
          <a:blip r:embed="rId6">
            <a:alphaModFix amt="10000"/>
          </a:blip>
          <a:srcRect b="0" l="0" r="0" t="0"/>
          <a:stretch/>
        </p:blipFill>
        <p:spPr>
          <a:xfrm>
            <a:off x="4691063" y="1790700"/>
            <a:ext cx="34956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0"/>
          <p:cNvPicPr preferRelativeResize="0"/>
          <p:nvPr/>
        </p:nvPicPr>
        <p:blipFill rotWithShape="1">
          <a:blip r:embed="rId7">
            <a:alphaModFix amt="10000"/>
          </a:blip>
          <a:srcRect b="0" l="0" r="0" t="0"/>
          <a:stretch/>
        </p:blipFill>
        <p:spPr>
          <a:xfrm>
            <a:off x="957263" y="3105150"/>
            <a:ext cx="34956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0"/>
          <p:cNvPicPr preferRelativeResize="0"/>
          <p:nvPr/>
        </p:nvPicPr>
        <p:blipFill rotWithShape="1">
          <a:blip r:embed="rId8">
            <a:alphaModFix amt="10000"/>
          </a:blip>
          <a:srcRect b="0" l="0" r="0" t="0"/>
          <a:stretch/>
        </p:blipFill>
        <p:spPr>
          <a:xfrm>
            <a:off x="4691063" y="3105150"/>
            <a:ext cx="349567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0"/>
          <p:cNvSpPr txBox="1"/>
          <p:nvPr/>
        </p:nvSpPr>
        <p:spPr>
          <a:xfrm>
            <a:off x="900113" y="981075"/>
            <a:ext cx="73437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and Key Takeaway</a:t>
            </a:r>
            <a:endParaRPr sz="500"/>
          </a:p>
        </p:txBody>
      </p:sp>
      <p:sp>
        <p:nvSpPr>
          <p:cNvPr id="546" name="Google Shape;546;p50"/>
          <p:cNvSpPr txBox="1"/>
          <p:nvPr/>
        </p:nvSpPr>
        <p:spPr>
          <a:xfrm>
            <a:off x="947738" y="1952625"/>
            <a:ext cx="35194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Actionable Sales Intelligence</a:t>
            </a:r>
            <a:endParaRPr sz="500"/>
          </a:p>
        </p:txBody>
      </p:sp>
      <p:sp>
        <p:nvSpPr>
          <p:cNvPr id="547" name="Google Shape;547;p50"/>
          <p:cNvSpPr txBox="1"/>
          <p:nvPr/>
        </p:nvSpPr>
        <p:spPr>
          <a:xfrm>
            <a:off x="4676775" y="1952625"/>
            <a:ext cx="3524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Closes the Conversion Gap</a:t>
            </a:r>
            <a:endParaRPr sz="500"/>
          </a:p>
        </p:txBody>
      </p:sp>
      <p:sp>
        <p:nvSpPr>
          <p:cNvPr id="548" name="Google Shape;548;p50"/>
          <p:cNvSpPr txBox="1"/>
          <p:nvPr/>
        </p:nvSpPr>
        <p:spPr>
          <a:xfrm>
            <a:off x="947738" y="3271838"/>
            <a:ext cx="35194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Revenue Impact</a:t>
            </a:r>
            <a:endParaRPr sz="500"/>
          </a:p>
        </p:txBody>
      </p:sp>
      <p:sp>
        <p:nvSpPr>
          <p:cNvPr id="549" name="Google Shape;549;p50"/>
          <p:cNvSpPr txBox="1"/>
          <p:nvPr/>
        </p:nvSpPr>
        <p:spPr>
          <a:xfrm>
            <a:off x="4676775" y="3271838"/>
            <a:ext cx="3524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Framework</a:t>
            </a:r>
            <a:endParaRPr sz="500"/>
          </a:p>
        </p:txBody>
      </p:sp>
      <p:sp>
        <p:nvSpPr>
          <p:cNvPr id="550" name="Google Shape;550;p50"/>
          <p:cNvSpPr txBox="1"/>
          <p:nvPr/>
        </p:nvSpPr>
        <p:spPr>
          <a:xfrm>
            <a:off x="952500" y="2300288"/>
            <a:ext cx="35052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lead scoring transforms CRM data into actionable intelligence for sales teams</a:t>
            </a:r>
            <a:endParaRPr sz="500"/>
          </a:p>
        </p:txBody>
      </p:sp>
      <p:sp>
        <p:nvSpPr>
          <p:cNvPr id="551" name="Google Shape;551;p50"/>
          <p:cNvSpPr txBox="1"/>
          <p:nvPr/>
        </p:nvSpPr>
        <p:spPr>
          <a:xfrm>
            <a:off x="4691063" y="2300288"/>
            <a:ext cx="34909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Mx targeting precision and closes the 7% conversion gap with Qx</a:t>
            </a:r>
            <a:endParaRPr sz="500"/>
          </a:p>
        </p:txBody>
      </p:sp>
      <p:sp>
        <p:nvSpPr>
          <p:cNvPr id="552" name="Google Shape;552;p50"/>
          <p:cNvSpPr txBox="1"/>
          <p:nvPr/>
        </p:nvSpPr>
        <p:spPr>
          <a:xfrm>
            <a:off x="952500" y="3619500"/>
            <a:ext cx="35099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Delivers measurable revenue impact by connecting SDRs with the right leads at the right time</a:t>
            </a:r>
            <a:endParaRPr sz="500"/>
          </a:p>
        </p:txBody>
      </p:sp>
      <p:sp>
        <p:nvSpPr>
          <p:cNvPr id="553" name="Google Shape;553;p50"/>
          <p:cNvSpPr txBox="1"/>
          <p:nvPr/>
        </p:nvSpPr>
        <p:spPr>
          <a:xfrm>
            <a:off x="4686300" y="3619500"/>
            <a:ext cx="35052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 scalable framework for continuous optimization and learning as new data emerges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